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embeddedFontLst>
    <p:embeddedFont>
      <p:font typeface="Nunito"/>
      <p:regular r:id="rId36"/>
      <p:bold r:id="rId37"/>
      <p:italic r:id="rId38"/>
      <p:boldItalic r:id="rId39"/>
    </p:embeddedFont>
    <p:embeddedFont>
      <p:font typeface="Manrope SemiBold"/>
      <p:regular r:id="rId40"/>
      <p:bold r:id="rId41"/>
    </p:embeddedFont>
    <p:embeddedFont>
      <p:font typeface="Inter"/>
      <p:bold r:id="rId42"/>
      <p:boldItalic r:id="rId43"/>
    </p:embeddedFont>
    <p:embeddedFont>
      <p:font typeface="Manrope"/>
      <p:regular r:id="rId44"/>
      <p:bold r:id="rId45"/>
    </p:embeddedFont>
    <p:embeddedFont>
      <p:font typeface="Nunito Medium"/>
      <p:regular r:id="rId46"/>
      <p:bold r:id="rId47"/>
      <p:italic r:id="rId48"/>
      <p:boldItalic r:id="rId49"/>
    </p:embeddedFont>
    <p:embeddedFont>
      <p:font typeface="Manrope ExtraBold"/>
      <p:bold r:id="rId50"/>
    </p:embeddedFont>
    <p:embeddedFont>
      <p:font typeface="Commissioner"/>
      <p:regular r:id="rId51"/>
      <p:bold r:id="rId52"/>
    </p:embeddedFont>
    <p:embeddedFont>
      <p:font typeface="Roboto Mono"/>
      <p:regular r:id="rId53"/>
      <p:bold r:id="rId54"/>
      <p:italic r:id="rId55"/>
      <p:boldItalic r:id="rId56"/>
    </p:embeddedFont>
    <p:embeddedFont>
      <p:font typeface="Nunito Light"/>
      <p:regular r:id="rId57"/>
      <p:bold r:id="rId58"/>
      <p:italic r:id="rId59"/>
      <p:boldItalic r:id="rId60"/>
    </p:embeddedFont>
    <p:embeddedFont>
      <p:font typeface="Manrope Light"/>
      <p:regular r:id="rId61"/>
      <p:bold r:id="rId62"/>
    </p:embeddedFont>
    <p:embeddedFont>
      <p:font typeface="Nunito SemiBold"/>
      <p:regular r:id="rId63"/>
      <p:bold r:id="rId64"/>
      <p:italic r:id="rId65"/>
      <p:boldItalic r:id="rId66"/>
    </p:embeddedFont>
    <p:embeddedFont>
      <p:font typeface="Play"/>
      <p:regular r:id="rId67"/>
      <p:bold r:id="rId68"/>
    </p:embeddedFont>
    <p:embeddedFont>
      <p:font typeface="Manrope Medium"/>
      <p:regular r:id="rId69"/>
      <p:bold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53">
          <p15:clr>
            <a:srgbClr val="747775"/>
          </p15:clr>
        </p15:guide>
      </p15:sldGuideLst>
    </p:ext>
    <p:ext uri="GoogleSlidesCustomDataVersion2">
      <go:slidesCustomData xmlns:go="http://customooxmlschemas.google.com/" r:id="rId71" roundtripDataSignature="AMtx7mh12U0dEqP6SKkELfn6npDwAv/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5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SemiBold-regular.fntdata"/><Relationship Id="rId42" Type="http://schemas.openxmlformats.org/officeDocument/2006/relationships/font" Target="fonts/Inter-bold.fntdata"/><Relationship Id="rId41" Type="http://schemas.openxmlformats.org/officeDocument/2006/relationships/font" Target="fonts/ManropeSemiBold-bold.fntdata"/><Relationship Id="rId44" Type="http://schemas.openxmlformats.org/officeDocument/2006/relationships/font" Target="fonts/Manrope-regular.fntdata"/><Relationship Id="rId43" Type="http://schemas.openxmlformats.org/officeDocument/2006/relationships/font" Target="fonts/Inter-boldItalic.fntdata"/><Relationship Id="rId46" Type="http://schemas.openxmlformats.org/officeDocument/2006/relationships/font" Target="fonts/NunitoMedium-regular.fntdata"/><Relationship Id="rId45" Type="http://schemas.openxmlformats.org/officeDocument/2006/relationships/font" Target="fonts/Manrope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NunitoMedium-italic.fntdata"/><Relationship Id="rId47" Type="http://schemas.openxmlformats.org/officeDocument/2006/relationships/font" Target="fonts/NunitoMedium-bold.fntdata"/><Relationship Id="rId49" Type="http://schemas.openxmlformats.org/officeDocument/2006/relationships/font" Target="fonts/Nunito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customschemas.google.com/relationships/presentationmetadata" Target="metadata"/><Relationship Id="rId70" Type="http://schemas.openxmlformats.org/officeDocument/2006/relationships/font" Target="fonts/ManropeMedium-bold.fntdata"/><Relationship Id="rId37" Type="http://schemas.openxmlformats.org/officeDocument/2006/relationships/font" Target="fonts/Nunito-bold.fntdata"/><Relationship Id="rId36" Type="http://schemas.openxmlformats.org/officeDocument/2006/relationships/font" Target="fonts/Nunito-regular.fntdata"/><Relationship Id="rId39" Type="http://schemas.openxmlformats.org/officeDocument/2006/relationships/font" Target="fonts/Nunito-boldItalic.fntdata"/><Relationship Id="rId38" Type="http://schemas.openxmlformats.org/officeDocument/2006/relationships/font" Target="fonts/Nunito-italic.fntdata"/><Relationship Id="rId62" Type="http://schemas.openxmlformats.org/officeDocument/2006/relationships/font" Target="fonts/ManropeLight-bold.fntdata"/><Relationship Id="rId61" Type="http://schemas.openxmlformats.org/officeDocument/2006/relationships/font" Target="fonts/ManropeLight-regular.fntdata"/><Relationship Id="rId20" Type="http://schemas.openxmlformats.org/officeDocument/2006/relationships/slide" Target="slides/slide14.xml"/><Relationship Id="rId64" Type="http://schemas.openxmlformats.org/officeDocument/2006/relationships/font" Target="fonts/NunitoSemiBold-bold.fntdata"/><Relationship Id="rId63" Type="http://schemas.openxmlformats.org/officeDocument/2006/relationships/font" Target="fonts/NunitoSemiBold-regular.fntdata"/><Relationship Id="rId22" Type="http://schemas.openxmlformats.org/officeDocument/2006/relationships/slide" Target="slides/slide16.xml"/><Relationship Id="rId66" Type="http://schemas.openxmlformats.org/officeDocument/2006/relationships/font" Target="fonts/NunitoSemiBold-boldItalic.fntdata"/><Relationship Id="rId21" Type="http://schemas.openxmlformats.org/officeDocument/2006/relationships/slide" Target="slides/slide15.xml"/><Relationship Id="rId65" Type="http://schemas.openxmlformats.org/officeDocument/2006/relationships/font" Target="fonts/NunitoSemiBold-italic.fntdata"/><Relationship Id="rId24" Type="http://schemas.openxmlformats.org/officeDocument/2006/relationships/slide" Target="slides/slide18.xml"/><Relationship Id="rId68" Type="http://schemas.openxmlformats.org/officeDocument/2006/relationships/font" Target="fonts/Play-bold.fntdata"/><Relationship Id="rId23" Type="http://schemas.openxmlformats.org/officeDocument/2006/relationships/slide" Target="slides/slide17.xml"/><Relationship Id="rId67" Type="http://schemas.openxmlformats.org/officeDocument/2006/relationships/font" Target="fonts/Play-regular.fntdata"/><Relationship Id="rId60" Type="http://schemas.openxmlformats.org/officeDocument/2006/relationships/font" Target="fonts/NunitoLight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anropeMedium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ommissioner-regular.fntdata"/><Relationship Id="rId50" Type="http://schemas.openxmlformats.org/officeDocument/2006/relationships/font" Target="fonts/ManropeExtraBold-bold.fntdata"/><Relationship Id="rId53" Type="http://schemas.openxmlformats.org/officeDocument/2006/relationships/font" Target="fonts/RobotoMono-regular.fntdata"/><Relationship Id="rId52" Type="http://schemas.openxmlformats.org/officeDocument/2006/relationships/font" Target="fonts/Commissioner-bold.fntdata"/><Relationship Id="rId11" Type="http://schemas.openxmlformats.org/officeDocument/2006/relationships/slide" Target="slides/slide5.xml"/><Relationship Id="rId55" Type="http://schemas.openxmlformats.org/officeDocument/2006/relationships/font" Target="fonts/RobotoMono-italic.fntdata"/><Relationship Id="rId10" Type="http://schemas.openxmlformats.org/officeDocument/2006/relationships/slide" Target="slides/slide4.xml"/><Relationship Id="rId54" Type="http://schemas.openxmlformats.org/officeDocument/2006/relationships/font" Target="fonts/RobotoMono-bold.fntdata"/><Relationship Id="rId13" Type="http://schemas.openxmlformats.org/officeDocument/2006/relationships/slide" Target="slides/slide7.xml"/><Relationship Id="rId57" Type="http://schemas.openxmlformats.org/officeDocument/2006/relationships/font" Target="fonts/NunitoLight-regular.fntdata"/><Relationship Id="rId12" Type="http://schemas.openxmlformats.org/officeDocument/2006/relationships/slide" Target="slides/slide6.xml"/><Relationship Id="rId56" Type="http://schemas.openxmlformats.org/officeDocument/2006/relationships/font" Target="fonts/RobotoMono-boldItalic.fntdata"/><Relationship Id="rId15" Type="http://schemas.openxmlformats.org/officeDocument/2006/relationships/slide" Target="slides/slide9.xml"/><Relationship Id="rId59" Type="http://schemas.openxmlformats.org/officeDocument/2006/relationships/font" Target="fonts/NunitoLight-italic.fntdata"/><Relationship Id="rId14" Type="http://schemas.openxmlformats.org/officeDocument/2006/relationships/slide" Target="slides/slide8.xml"/><Relationship Id="rId58" Type="http://schemas.openxmlformats.org/officeDocument/2006/relationships/font" Target="fonts/NunitoLigh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2c73c3ada47f7cb8_1_39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h2c73c3ada47f7cb8_1_3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h2c73c3ada47f7cb8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h2c73c3ada47f7cb8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highlight>
                  <a:srgbClr val="D9D2E9"/>
                </a:highlight>
              </a:rPr>
              <a:t>Overview:</a:t>
            </a:r>
            <a:r>
              <a:rPr lang="en-US"/>
              <a:t> The previous coding steps essentially say “slice 0 patch 1 looks important” - this chart/process is how the code turns that counting into a filename. It rebuilds the sorted list of files and counts to the same 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Overarching function lookup_png:</a:t>
            </a:r>
            <a:r>
              <a:rPr lang="en-US"/>
              <a:t> tries to find for what png image those numbers are associated with AFTER figuring out weights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Build pt index for case function:</a:t>
            </a:r>
            <a:r>
              <a:rPr lang="en-US"/>
              <a:t> does 5 things in order to make ordered list of the case stain pair’s files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Glob .pt files: lists every patch file in the .pt folder whose name starts with this case’s id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_file_contains_stain: keeps only the files whose name contains the stain we’re looking at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_parse_slice_id_from_filename: groups those files into slices using the slice name in each filename (like match_1)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_parse_patch_index_from_pt_filename: sorts the patches inside each slice by the number after _patch in the filename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Sort the slice IDs: puts the slices in order, which becomes the order that slice_idx counts 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highlight>
                  <a:srgbClr val="D9D2E9"/>
                </a:highlight>
              </a:rPr>
              <a:t>DIAGNOSIS OF INDEXING ISSUE:</a:t>
            </a:r>
            <a:endParaRPr b="1">
              <a:highlight>
                <a:srgbClr val="D9D2E9"/>
              </a:highlight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In </a:t>
            </a:r>
            <a:r>
              <a:rPr lang="en-US" u="sng"/>
              <a:t>attention_analysis.py</a:t>
            </a:r>
            <a:r>
              <a:rPr lang="en-US"/>
              <a:t>, _build_pt_index_for_case_stain rebuilds the file list for a case and stain. Inside it, there is a loop and lambda function that sorts each slice’s patch files by the integer after _patch, so the order is patch1, patch2, patch10, patch11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However, the model’s input in</a:t>
            </a:r>
            <a:r>
              <a:rPr lang="en-US" u="sng"/>
              <a:t> data_utils.py</a:t>
            </a:r>
            <a:r>
              <a:rPr lang="en-US"/>
              <a:t> sorts the files by the full path as text, resulting in patch0, patch1, patch10, patch11, patch2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These inconsistencies come together in </a:t>
            </a:r>
            <a:r>
              <a:rPr lang="en-US">
                <a:solidFill>
                  <a:schemeClr val="dk1"/>
                </a:solidFill>
              </a:rPr>
              <a:t>on the first step in the next slide (</a:t>
            </a:r>
            <a:r>
              <a:rPr lang="en-US">
                <a:solidFill>
                  <a:schemeClr val="dk1"/>
                </a:solidFill>
              </a:rPr>
              <a:t>pt_path = files[patch_idx]) in which the position the model reported is read as that spot in the numeric list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EX: For a position like 2, the model meant patch10 and the lookup returns patch2.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highlight>
                  <a:srgbClr val="D9D2E9"/>
                </a:highlight>
              </a:rPr>
              <a:t>Code References:</a:t>
            </a:r>
            <a:endParaRPr b="1">
              <a:highlight>
                <a:srgbClr val="D9D2E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data_utils lines that sort alphabetically: 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group_patches_by_slice: case_slices[k] = sorted(case_slices[k])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build_case_dict: stain_patches = sorted(stain_groups[stain])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_build_pt_index_from_pt_filename lines that sort numerically: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flist_sorted = sorted(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flist,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key=lambda x: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_parse_patch_index_from_pt_filename(x) is None,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_parse_patch_index_from_pt_filename(x) or 10**18,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x,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each file x it calls the lambda to get a key, a tuple of three values, and sorts by those keys. Tuples compare left to right: the first value decides the order, and the second matters only if the first values tie.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three values are: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parse(x) is None is False if the filename has a patch number and True if not, so files without a number go last.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parse(x) or 10**18 is the patch number as a real integer. If there is no number it’s 10^18, a huge placeholder. (That or also turns a real 0 into 10^18, which is the patch0 quirk.)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x is the filename, used only to break 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h2c73c3ada47f7cb8_2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h2c73c3ada47f7cb8_2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</a:rPr>
              <a:t>Pick by position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Uses the model’s slice number to choose a slice from the sorted slice list, then its patch number to choose a file inside that slice, assuming the model counted in the same order.</a:t>
            </a:r>
            <a:r>
              <a:rPr i="1" lang="en-US">
                <a:solidFill>
                  <a:schemeClr val="dk1"/>
                </a:solidFill>
              </a:rPr>
              <a:t> </a:t>
            </a:r>
            <a:r>
              <a:rPr b="1" i="1" lang="en-US">
                <a:solidFill>
                  <a:schemeClr val="dk1"/>
                </a:solidFill>
              </a:rPr>
              <a:t>This is where the issue from the previous step shows up:</a:t>
            </a:r>
            <a:r>
              <a:rPr lang="en-US">
                <a:solidFill>
                  <a:schemeClr val="dk1"/>
                </a:solidFill>
              </a:rPr>
              <a:t> the list being indexed was sorted numerically, but the model’s positions refer to a text-sorted list, so the wrong patch comes 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</a:rPr>
              <a:t>_map_pt_to_png_path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Swaps .pt for .png in the chosen filename and points it at the image folder to get the picture’s path.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</a:rPr>
              <a:t>PNG exists?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If that PNG is on disk, it gets returned and the process is done.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</a:rPr>
              <a:t>Fallback (_build_png_index_for_case_stain)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If the PNG is missing or anything else failed, it repeats the same grouping, sorting, and position-picking directly on the PNG folder, and returns nothing if that fails too. It contains its own copy of the numeric patch sort, so it makes the same ordering mistake.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</a:rPr>
              <a:t>Show results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If a path comes back, the figure shows the tissue image, and if nothing comes back, it draws a heatmap of the raw numbers instead. With this bug the tissue image is real but is usually the wrong patch, so a normal-looking figure doesn’t prove the mapping is right.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h5700883c2e2d77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h5700883c2e2d77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h6fe8d21487faccb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h6fe8d21487facc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h6fe8d21487faccb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h6fe8d21487faccb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6fe8d21487faccb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h6fe8d21487faccb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h6fe8d21487faccb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h6fe8d21487faccb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h6fe8d21487faccbb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h6fe8d21487faccb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h6fe8d21487faccbb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h6fe8d21487faccb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h6fe8d21487faccbb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h6fe8d21487faccb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6fe8d21487faccbb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6fe8d21487faccb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h6fe8d21487faccbb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h6fe8d21487faccb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h6fe8d21487faccbb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h6fe8d21487faccb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h2c73c3ada47f7cb8_18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h2c73c3ada47f7cb8_1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h2c73c3ada47f7cb8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h2c73c3ada47f7cb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h2c73c3ada47f7cb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h2c73c3ada47f7cb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h2c73c3ada47f7cb8_1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h2c73c3ada47f7cb8_1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h2c73c3ada47f7cb8_1_2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h2c73c3ada47f7cb8_1_2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h2c73c3ada47f7cb8_1_2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h2c73c3ada47f7cb8_1_2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h44282de0fdbe31a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h44282de0fdbe31a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h44282de0fdbe31a0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h44282de0fdbe31a0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h44282de0fdbe31a0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h44282de0fdbe31a0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h44282de0fdbe31a0_3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h44282de0fdbe31a0_3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h44282de0fdbe31a0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h44282de0fdbe31a0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 1">
  <p:cSld name="Title slide ALT 1 (h4cfefd4b74e66786_1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c73c3ada47f7cb8_1_484"/>
          <p:cNvSpPr/>
          <p:nvPr>
            <p:ph idx="2" type="pic"/>
          </p:nvPr>
        </p:nvSpPr>
        <p:spPr>
          <a:xfrm>
            <a:off x="2020000" y="5581933"/>
            <a:ext cx="8865900" cy="1280400"/>
          </a:xfrm>
          <a:prstGeom prst="round2SameRect">
            <a:avLst>
              <a:gd fmla="val 31290" name="adj1"/>
              <a:gd fmla="val 0" name="adj2"/>
            </a:avLst>
          </a:prstGeom>
          <a:noFill/>
          <a:ln>
            <a:noFill/>
          </a:ln>
        </p:spPr>
      </p:sp>
      <p:sp>
        <p:nvSpPr>
          <p:cNvPr id="82" name="Google Shape;82;h2c73c3ada47f7cb8_1_484"/>
          <p:cNvSpPr/>
          <p:nvPr>
            <p:ph idx="3" type="pic"/>
          </p:nvPr>
        </p:nvSpPr>
        <p:spPr>
          <a:xfrm flipH="1">
            <a:off x="10957631" y="5583900"/>
            <a:ext cx="1232400" cy="1280400"/>
          </a:xfrm>
          <a:prstGeom prst="round1Rect">
            <a:avLst>
              <a:gd fmla="val 21722" name="adj"/>
            </a:avLst>
          </a:prstGeom>
          <a:noFill/>
          <a:ln>
            <a:noFill/>
          </a:ln>
        </p:spPr>
      </p:sp>
      <p:sp>
        <p:nvSpPr>
          <p:cNvPr id="83" name="Google Shape;83;h2c73c3ada47f7cb8_1_484"/>
          <p:cNvSpPr/>
          <p:nvPr>
            <p:ph idx="4" type="pic"/>
          </p:nvPr>
        </p:nvSpPr>
        <p:spPr>
          <a:xfrm rot="10800000">
            <a:off x="2019900" y="-3190"/>
            <a:ext cx="4133700" cy="13035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84" name="Google Shape;84;h2c73c3ada47f7cb8_1_484"/>
          <p:cNvSpPr/>
          <p:nvPr>
            <p:ph idx="5" type="pic"/>
          </p:nvPr>
        </p:nvSpPr>
        <p:spPr>
          <a:xfrm rot="10800000">
            <a:off x="6219733" y="-2590"/>
            <a:ext cx="5970300" cy="13029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  <p:sp>
        <p:nvSpPr>
          <p:cNvPr id="85" name="Google Shape;85;h2c73c3ada47f7cb8_1_484"/>
          <p:cNvSpPr txBox="1"/>
          <p:nvPr>
            <p:ph type="ctrTitle"/>
          </p:nvPr>
        </p:nvSpPr>
        <p:spPr>
          <a:xfrm>
            <a:off x="2966400" y="1999967"/>
            <a:ext cx="8019600" cy="221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86" name="Google Shape;86;h2c73c3ada47f7cb8_1_484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7" name="Google Shape;87;h2c73c3ada47f7cb8_1_484"/>
          <p:cNvSpPr txBox="1"/>
          <p:nvPr>
            <p:ph idx="6" type="subTitle"/>
          </p:nvPr>
        </p:nvSpPr>
        <p:spPr>
          <a:xfrm>
            <a:off x="2984067" y="4091600"/>
            <a:ext cx="7352400" cy="54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8" name="Google Shape;88;h2c73c3ada47f7cb8_1_484"/>
          <p:cNvSpPr/>
          <p:nvPr>
            <p:ph idx="7" type="pic"/>
          </p:nvPr>
        </p:nvSpPr>
        <p:spPr>
          <a:xfrm>
            <a:off x="3200" y="5559133"/>
            <a:ext cx="1952400" cy="13029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2c73c3ada47f7cb8_20_6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h2c73c3ada47f7cb8_20_6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h2c73c3ada47f7cb8_20_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2c73c3ada47f7cb8_1_1929"/>
          <p:cNvSpPr/>
          <p:nvPr>
            <p:ph idx="2" type="pic"/>
          </p:nvPr>
        </p:nvSpPr>
        <p:spPr>
          <a:xfrm>
            <a:off x="2020000" y="5581933"/>
            <a:ext cx="8865900" cy="1280400"/>
          </a:xfrm>
          <a:prstGeom prst="round2SameRect">
            <a:avLst>
              <a:gd fmla="val 3129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9" name="Google Shape;99;h2c73c3ada47f7cb8_1_1929"/>
          <p:cNvSpPr/>
          <p:nvPr>
            <p:ph idx="3" type="pic"/>
          </p:nvPr>
        </p:nvSpPr>
        <p:spPr>
          <a:xfrm flipH="1">
            <a:off x="10957631" y="5583900"/>
            <a:ext cx="1232400" cy="1280400"/>
          </a:xfrm>
          <a:prstGeom prst="round1Rect">
            <a:avLst>
              <a:gd fmla="val 21722" name="adj"/>
            </a:avLst>
          </a:prstGeom>
          <a:noFill/>
          <a:ln>
            <a:noFill/>
          </a:ln>
        </p:spPr>
      </p:sp>
      <p:sp>
        <p:nvSpPr>
          <p:cNvPr id="100" name="Google Shape;100;h2c73c3ada47f7cb8_1_1929"/>
          <p:cNvSpPr/>
          <p:nvPr>
            <p:ph idx="4" type="pic"/>
          </p:nvPr>
        </p:nvSpPr>
        <p:spPr>
          <a:xfrm rot="10800000">
            <a:off x="2019900" y="-3190"/>
            <a:ext cx="4133700" cy="13035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01" name="Google Shape;101;h2c73c3ada47f7cb8_1_1929"/>
          <p:cNvSpPr/>
          <p:nvPr>
            <p:ph idx="5" type="pic"/>
          </p:nvPr>
        </p:nvSpPr>
        <p:spPr>
          <a:xfrm rot="10800000">
            <a:off x="6219733" y="-2590"/>
            <a:ext cx="5970300" cy="13029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  <p:sp>
        <p:nvSpPr>
          <p:cNvPr id="102" name="Google Shape;102;h2c73c3ada47f7cb8_1_1929"/>
          <p:cNvSpPr txBox="1"/>
          <p:nvPr>
            <p:ph type="ctrTitle"/>
          </p:nvPr>
        </p:nvSpPr>
        <p:spPr>
          <a:xfrm>
            <a:off x="2966400" y="1999967"/>
            <a:ext cx="8019600" cy="221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3" name="Google Shape;103;h2c73c3ada47f7cb8_1_1929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4" name="Google Shape;104;h2c73c3ada47f7cb8_1_1929"/>
          <p:cNvSpPr txBox="1"/>
          <p:nvPr>
            <p:ph idx="6" type="subTitle"/>
          </p:nvPr>
        </p:nvSpPr>
        <p:spPr>
          <a:xfrm>
            <a:off x="2984067" y="4091600"/>
            <a:ext cx="7352400" cy="54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descr="Marble texture (Provided by Getty Images)" id="105" name="Google Shape;105;h2c73c3ada47f7cb8_1_1929"/>
          <p:cNvPicPr preferRelativeResize="0"/>
          <p:nvPr/>
        </p:nvPicPr>
        <p:blipFill rotWithShape="1">
          <a:blip r:embed="rId2">
            <a:alphaModFix/>
          </a:blip>
          <a:srcRect b="8354" l="51184" r="0" t="70762"/>
          <a:stretch/>
        </p:blipFill>
        <p:spPr>
          <a:xfrm>
            <a:off x="0" y="5562933"/>
            <a:ext cx="1952400" cy="12951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6" name="Google Shape;106;h2c73c3ada47f7cb8_1_1929"/>
          <p:cNvSpPr/>
          <p:nvPr>
            <p:ph idx="7" type="pic"/>
          </p:nvPr>
        </p:nvSpPr>
        <p:spPr>
          <a:xfrm>
            <a:off x="3200" y="5559133"/>
            <a:ext cx="1952400" cy="13029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TITLE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2c73c3ada47f7cb8_1_1939"/>
          <p:cNvSpPr/>
          <p:nvPr>
            <p:ph idx="2" type="pic"/>
          </p:nvPr>
        </p:nvSpPr>
        <p:spPr>
          <a:xfrm>
            <a:off x="9966033" y="377967"/>
            <a:ext cx="1848000" cy="648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09" name="Google Shape;109;h2c73c3ada47f7cb8_1_1939"/>
          <p:cNvSpPr txBox="1"/>
          <p:nvPr>
            <p:ph idx="12" type="sldNum"/>
          </p:nvPr>
        </p:nvSpPr>
        <p:spPr>
          <a:xfrm>
            <a:off x="11082433" y="6262252"/>
            <a:ext cx="731700" cy="243900"/>
          </a:xfrm>
          <a:prstGeom prst="rect">
            <a:avLst/>
          </a:prstGeom>
        </p:spPr>
        <p:txBody>
          <a:bodyPr anchorCtr="0" anchor="b" bIns="0" lIns="121900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" name="Google Shape;110;h2c73c3ada47f7cb8_1_1939"/>
          <p:cNvGrpSpPr/>
          <p:nvPr/>
        </p:nvGrpSpPr>
        <p:grpSpPr>
          <a:xfrm>
            <a:off x="377683" y="609602"/>
            <a:ext cx="469267" cy="469392"/>
            <a:chOff x="8489825" y="3576200"/>
            <a:chExt cx="419700" cy="419700"/>
          </a:xfrm>
        </p:grpSpPr>
        <p:sp>
          <p:nvSpPr>
            <p:cNvPr id="111" name="Google Shape;111;h2c73c3ada47f7cb8_1_1939"/>
            <p:cNvSpPr/>
            <p:nvPr/>
          </p:nvSpPr>
          <p:spPr>
            <a:xfrm>
              <a:off x="8489825" y="3576200"/>
              <a:ext cx="419700" cy="41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12" name="Google Shape;112;h2c73c3ada47f7cb8_1_1939"/>
            <p:cNvGrpSpPr/>
            <p:nvPr/>
          </p:nvGrpSpPr>
          <p:grpSpPr>
            <a:xfrm rot="5400000">
              <a:off x="8618161" y="3720599"/>
              <a:ext cx="143075" cy="130896"/>
              <a:chOff x="3091318" y="986129"/>
              <a:chExt cx="694200" cy="635111"/>
            </a:xfrm>
          </p:grpSpPr>
          <p:cxnSp>
            <p:nvCxnSpPr>
              <p:cNvPr id="113" name="Google Shape;113;h2c73c3ada47f7cb8_1_1939"/>
              <p:cNvCxnSpPr/>
              <p:nvPr/>
            </p:nvCxnSpPr>
            <p:spPr>
              <a:xfrm rot="5400000">
                <a:off x="3149351" y="971579"/>
                <a:ext cx="573000" cy="6021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h2c73c3ada47f7cb8_1_1939"/>
              <p:cNvCxnSpPr/>
              <p:nvPr/>
            </p:nvCxnSpPr>
            <p:spPr>
              <a:xfrm>
                <a:off x="3438418" y="639095"/>
                <a:ext cx="0" cy="6942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h2c73c3ada47f7cb8_1_1939"/>
              <p:cNvCxnSpPr/>
              <p:nvPr/>
            </p:nvCxnSpPr>
            <p:spPr>
              <a:xfrm rot="5400000">
                <a:off x="3428226" y="1307590"/>
                <a:ext cx="627300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16" name="Google Shape;116;h2c73c3ada47f7cb8_1_1939"/>
          <p:cNvSpPr txBox="1"/>
          <p:nvPr>
            <p:ph idx="1" type="subTitle"/>
          </p:nvPr>
        </p:nvSpPr>
        <p:spPr>
          <a:xfrm>
            <a:off x="377967" y="4116300"/>
            <a:ext cx="29127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17" name="Google Shape;117;h2c73c3ada47f7cb8_1_1939"/>
          <p:cNvSpPr txBox="1"/>
          <p:nvPr>
            <p:ph idx="3" type="subTitle"/>
          </p:nvPr>
        </p:nvSpPr>
        <p:spPr>
          <a:xfrm>
            <a:off x="3463583" y="4116300"/>
            <a:ext cx="29139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18" name="Google Shape;118;h2c73c3ada47f7cb8_1_1939"/>
          <p:cNvSpPr txBox="1"/>
          <p:nvPr>
            <p:ph idx="4" type="subTitle"/>
          </p:nvPr>
        </p:nvSpPr>
        <p:spPr>
          <a:xfrm>
            <a:off x="6550400" y="4116300"/>
            <a:ext cx="29139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19" name="Google Shape;119;h2c73c3ada47f7cb8_1_1939"/>
          <p:cNvSpPr txBox="1"/>
          <p:nvPr>
            <p:ph idx="5" type="subTitle"/>
          </p:nvPr>
        </p:nvSpPr>
        <p:spPr>
          <a:xfrm>
            <a:off x="391100" y="3105667"/>
            <a:ext cx="25443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20" name="Google Shape;120;h2c73c3ada47f7cb8_1_1939"/>
          <p:cNvSpPr txBox="1"/>
          <p:nvPr>
            <p:ph idx="6" type="subTitle"/>
          </p:nvPr>
        </p:nvSpPr>
        <p:spPr>
          <a:xfrm>
            <a:off x="3425967" y="3105667"/>
            <a:ext cx="26229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21" name="Google Shape;121;h2c73c3ada47f7cb8_1_1939"/>
          <p:cNvSpPr txBox="1"/>
          <p:nvPr>
            <p:ph idx="7" type="subTitle"/>
          </p:nvPr>
        </p:nvSpPr>
        <p:spPr>
          <a:xfrm>
            <a:off x="6539233" y="3105667"/>
            <a:ext cx="26229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22" name="Google Shape;122;h2c73c3ada47f7cb8_1_1939"/>
          <p:cNvSpPr/>
          <p:nvPr/>
        </p:nvSpPr>
        <p:spPr>
          <a:xfrm>
            <a:off x="377967" y="5890667"/>
            <a:ext cx="9485700" cy="967200"/>
          </a:xfrm>
          <a:prstGeom prst="round2SameRect">
            <a:avLst>
              <a:gd fmla="val 30035" name="adj1"/>
              <a:gd fmla="val 0" name="adj2"/>
            </a:avLst>
          </a:prstGeom>
          <a:solidFill>
            <a:schemeClr val="accent4"/>
          </a:solidFill>
          <a:ln>
            <a:noFill/>
          </a:ln>
          <a:effectLst>
            <a:outerShdw blurRad="571500" rotWithShape="0" algn="bl" dir="12420000" dist="63500">
              <a:schemeClr val="dk1">
                <a:alpha val="471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23" name="Google Shape;123;h2c73c3ada47f7cb8_1_1939"/>
          <p:cNvSpPr txBox="1"/>
          <p:nvPr>
            <p:ph type="title"/>
          </p:nvPr>
        </p:nvSpPr>
        <p:spPr>
          <a:xfrm>
            <a:off x="1118033" y="569933"/>
            <a:ext cx="7770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TITLE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2c73c3ada47f7cb8_1_1956"/>
          <p:cNvSpPr/>
          <p:nvPr>
            <p:ph idx="2" type="pic"/>
          </p:nvPr>
        </p:nvSpPr>
        <p:spPr>
          <a:xfrm>
            <a:off x="9966033" y="377967"/>
            <a:ext cx="1848000" cy="648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6" name="Google Shape;126;h2c73c3ada47f7cb8_1_1956"/>
          <p:cNvSpPr txBox="1"/>
          <p:nvPr>
            <p:ph idx="12" type="sldNum"/>
          </p:nvPr>
        </p:nvSpPr>
        <p:spPr>
          <a:xfrm>
            <a:off x="11082433" y="6262252"/>
            <a:ext cx="731700" cy="243900"/>
          </a:xfrm>
          <a:prstGeom prst="rect">
            <a:avLst/>
          </a:prstGeom>
        </p:spPr>
        <p:txBody>
          <a:bodyPr anchorCtr="0" anchor="b" bIns="0" lIns="121900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h2c73c3ada47f7cb8_1_1956"/>
          <p:cNvSpPr txBox="1"/>
          <p:nvPr>
            <p:ph idx="1" type="subTitle"/>
          </p:nvPr>
        </p:nvSpPr>
        <p:spPr>
          <a:xfrm>
            <a:off x="920057" y="1986867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28" name="Google Shape;128;h2c73c3ada47f7cb8_1_1956"/>
          <p:cNvSpPr txBox="1"/>
          <p:nvPr>
            <p:ph idx="3" type="subTitle"/>
          </p:nvPr>
        </p:nvSpPr>
        <p:spPr>
          <a:xfrm>
            <a:off x="4702757" y="1986867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29" name="Google Shape;129;h2c73c3ada47f7cb8_1_1956"/>
          <p:cNvSpPr txBox="1"/>
          <p:nvPr>
            <p:ph idx="4" type="subTitle"/>
          </p:nvPr>
        </p:nvSpPr>
        <p:spPr>
          <a:xfrm>
            <a:off x="920054" y="2805354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30" name="Google Shape;130;h2c73c3ada47f7cb8_1_1956"/>
          <p:cNvSpPr txBox="1"/>
          <p:nvPr>
            <p:ph idx="5" type="subTitle"/>
          </p:nvPr>
        </p:nvSpPr>
        <p:spPr>
          <a:xfrm>
            <a:off x="4702754" y="2805354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31" name="Google Shape;131;h2c73c3ada47f7cb8_1_1956"/>
          <p:cNvSpPr txBox="1"/>
          <p:nvPr>
            <p:ph idx="6" type="subTitle"/>
          </p:nvPr>
        </p:nvSpPr>
        <p:spPr>
          <a:xfrm>
            <a:off x="920054" y="3623858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32" name="Google Shape;132;h2c73c3ada47f7cb8_1_1956"/>
          <p:cNvSpPr txBox="1"/>
          <p:nvPr>
            <p:ph idx="7" type="subTitle"/>
          </p:nvPr>
        </p:nvSpPr>
        <p:spPr>
          <a:xfrm>
            <a:off x="4702754" y="3616058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33" name="Google Shape;133;h2c73c3ada47f7cb8_1_1956"/>
          <p:cNvSpPr txBox="1"/>
          <p:nvPr>
            <p:ph idx="8" type="subTitle"/>
          </p:nvPr>
        </p:nvSpPr>
        <p:spPr>
          <a:xfrm>
            <a:off x="1605200" y="1987296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4" name="Google Shape;134;h2c73c3ada47f7cb8_1_1956"/>
          <p:cNvSpPr txBox="1"/>
          <p:nvPr>
            <p:ph idx="9" type="subTitle"/>
          </p:nvPr>
        </p:nvSpPr>
        <p:spPr>
          <a:xfrm>
            <a:off x="1605200" y="2808229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5" name="Google Shape;135;h2c73c3ada47f7cb8_1_1956"/>
          <p:cNvSpPr txBox="1"/>
          <p:nvPr>
            <p:ph idx="13" type="subTitle"/>
          </p:nvPr>
        </p:nvSpPr>
        <p:spPr>
          <a:xfrm>
            <a:off x="1605200" y="3621024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6" name="Google Shape;136;h2c73c3ada47f7cb8_1_1956"/>
          <p:cNvSpPr txBox="1"/>
          <p:nvPr>
            <p:ph idx="14" type="subTitle"/>
          </p:nvPr>
        </p:nvSpPr>
        <p:spPr>
          <a:xfrm>
            <a:off x="5384733" y="1987296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7" name="Google Shape;137;h2c73c3ada47f7cb8_1_1956"/>
          <p:cNvSpPr txBox="1"/>
          <p:nvPr>
            <p:ph idx="15" type="subTitle"/>
          </p:nvPr>
        </p:nvSpPr>
        <p:spPr>
          <a:xfrm>
            <a:off x="5384733" y="2804160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8" name="Google Shape;138;h2c73c3ada47f7cb8_1_1956"/>
          <p:cNvSpPr txBox="1"/>
          <p:nvPr>
            <p:ph idx="16" type="subTitle"/>
          </p:nvPr>
        </p:nvSpPr>
        <p:spPr>
          <a:xfrm>
            <a:off x="5384733" y="3621024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" name="Google Shape;139;h2c73c3ada47f7cb8_1_1956"/>
          <p:cNvSpPr txBox="1"/>
          <p:nvPr>
            <p:ph idx="17" type="subTitle"/>
          </p:nvPr>
        </p:nvSpPr>
        <p:spPr>
          <a:xfrm>
            <a:off x="920054" y="4434063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40" name="Google Shape;140;h2c73c3ada47f7cb8_1_1956"/>
          <p:cNvSpPr txBox="1"/>
          <p:nvPr>
            <p:ph idx="18" type="subTitle"/>
          </p:nvPr>
        </p:nvSpPr>
        <p:spPr>
          <a:xfrm>
            <a:off x="4702754" y="4426262"/>
            <a:ext cx="5460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141" name="Google Shape;141;h2c73c3ada47f7cb8_1_1956"/>
          <p:cNvSpPr txBox="1"/>
          <p:nvPr>
            <p:ph idx="19" type="subTitle"/>
          </p:nvPr>
        </p:nvSpPr>
        <p:spPr>
          <a:xfrm>
            <a:off x="1605200" y="4437888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2" name="Google Shape;142;h2c73c3ada47f7cb8_1_1956"/>
          <p:cNvSpPr txBox="1"/>
          <p:nvPr>
            <p:ph idx="20" type="subTitle"/>
          </p:nvPr>
        </p:nvSpPr>
        <p:spPr>
          <a:xfrm>
            <a:off x="5384733" y="4425696"/>
            <a:ext cx="3097500" cy="89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3" name="Google Shape;143;h2c73c3ada47f7cb8_1_1956"/>
          <p:cNvSpPr/>
          <p:nvPr/>
        </p:nvSpPr>
        <p:spPr>
          <a:xfrm>
            <a:off x="377967" y="5890667"/>
            <a:ext cx="9485700" cy="967200"/>
          </a:xfrm>
          <a:prstGeom prst="round2SameRect">
            <a:avLst>
              <a:gd fmla="val 30035" name="adj1"/>
              <a:gd fmla="val 0" name="adj2"/>
            </a:avLst>
          </a:prstGeom>
          <a:solidFill>
            <a:schemeClr val="accent4"/>
          </a:solidFill>
          <a:ln>
            <a:noFill/>
          </a:ln>
          <a:effectLst>
            <a:outerShdw blurRad="571500" rotWithShape="0" algn="bl" dir="12420000" dist="63500">
              <a:schemeClr val="dk1">
                <a:alpha val="471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44" name="Google Shape;144;h2c73c3ada47f7cb8_1_1956"/>
          <p:cNvSpPr txBox="1"/>
          <p:nvPr>
            <p:ph type="title"/>
          </p:nvPr>
        </p:nvSpPr>
        <p:spPr>
          <a:xfrm>
            <a:off x="377967" y="634000"/>
            <a:ext cx="8510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Manrope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3 cards">
  <p:cSld name="CUSTOM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c73c3ada47f7cb8_1_1977"/>
          <p:cNvSpPr txBox="1"/>
          <p:nvPr>
            <p:ph type="title"/>
          </p:nvPr>
        </p:nvSpPr>
        <p:spPr>
          <a:xfrm>
            <a:off x="377967" y="888733"/>
            <a:ext cx="7497900" cy="6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7" name="Google Shape;147;h2c73c3ada47f7cb8_1_1977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48" name="Google Shape;148;h2c73c3ada47f7cb8_1_1977"/>
          <p:cNvSpPr/>
          <p:nvPr>
            <p:ph idx="2" type="pic"/>
          </p:nvPr>
        </p:nvSpPr>
        <p:spPr>
          <a:xfrm>
            <a:off x="377967" y="1901967"/>
            <a:ext cx="3680400" cy="24165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9" name="Google Shape;149;h2c73c3ada47f7cb8_1_1977"/>
          <p:cNvSpPr/>
          <p:nvPr>
            <p:ph idx="3" type="pic"/>
          </p:nvPr>
        </p:nvSpPr>
        <p:spPr>
          <a:xfrm>
            <a:off x="4255800" y="1901967"/>
            <a:ext cx="3680400" cy="24165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0" name="Google Shape;150;h2c73c3ada47f7cb8_1_1977"/>
          <p:cNvSpPr/>
          <p:nvPr>
            <p:ph idx="4" type="pic"/>
          </p:nvPr>
        </p:nvSpPr>
        <p:spPr>
          <a:xfrm>
            <a:off x="8133633" y="1901967"/>
            <a:ext cx="3680400" cy="24165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1" name="Google Shape;151;h2c73c3ada47f7cb8_1_1977"/>
          <p:cNvSpPr txBox="1"/>
          <p:nvPr>
            <p:ph idx="5" type="subTitle"/>
          </p:nvPr>
        </p:nvSpPr>
        <p:spPr>
          <a:xfrm>
            <a:off x="634000" y="4510700"/>
            <a:ext cx="31791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SemiBold"/>
              <a:buNone/>
              <a:defRPr sz="21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2" name="Google Shape;152;h2c73c3ada47f7cb8_1_1977"/>
          <p:cNvSpPr txBox="1"/>
          <p:nvPr>
            <p:ph idx="6" type="subTitle"/>
          </p:nvPr>
        </p:nvSpPr>
        <p:spPr>
          <a:xfrm>
            <a:off x="630700" y="4921235"/>
            <a:ext cx="31791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53" name="Google Shape;153;h2c73c3ada47f7cb8_1_1977"/>
          <p:cNvSpPr txBox="1"/>
          <p:nvPr>
            <p:ph idx="7" type="subTitle"/>
          </p:nvPr>
        </p:nvSpPr>
        <p:spPr>
          <a:xfrm>
            <a:off x="634000" y="5560800"/>
            <a:ext cx="3179100" cy="66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54" name="Google Shape;154;h2c73c3ada47f7cb8_1_1977"/>
          <p:cNvSpPr txBox="1"/>
          <p:nvPr>
            <p:ph idx="8" type="subTitle"/>
          </p:nvPr>
        </p:nvSpPr>
        <p:spPr>
          <a:xfrm>
            <a:off x="4508067" y="4510600"/>
            <a:ext cx="31791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SemiBold"/>
              <a:buNone/>
              <a:defRPr sz="21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5" name="Google Shape;155;h2c73c3ada47f7cb8_1_1977"/>
          <p:cNvSpPr txBox="1"/>
          <p:nvPr>
            <p:ph idx="9" type="subTitle"/>
          </p:nvPr>
        </p:nvSpPr>
        <p:spPr>
          <a:xfrm>
            <a:off x="4504767" y="4921235"/>
            <a:ext cx="31791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56" name="Google Shape;156;h2c73c3ada47f7cb8_1_1977"/>
          <p:cNvSpPr txBox="1"/>
          <p:nvPr>
            <p:ph idx="13" type="subTitle"/>
          </p:nvPr>
        </p:nvSpPr>
        <p:spPr>
          <a:xfrm>
            <a:off x="4508067" y="5560800"/>
            <a:ext cx="3179100" cy="66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57" name="Google Shape;157;h2c73c3ada47f7cb8_1_1977"/>
          <p:cNvSpPr txBox="1"/>
          <p:nvPr>
            <p:ph idx="14" type="subTitle"/>
          </p:nvPr>
        </p:nvSpPr>
        <p:spPr>
          <a:xfrm>
            <a:off x="8382100" y="4510600"/>
            <a:ext cx="31791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SemiBold"/>
              <a:buNone/>
              <a:defRPr sz="21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8" name="Google Shape;158;h2c73c3ada47f7cb8_1_1977"/>
          <p:cNvSpPr txBox="1"/>
          <p:nvPr>
            <p:ph idx="15" type="subTitle"/>
          </p:nvPr>
        </p:nvSpPr>
        <p:spPr>
          <a:xfrm>
            <a:off x="8378800" y="4921235"/>
            <a:ext cx="31791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59" name="Google Shape;159;h2c73c3ada47f7cb8_1_1977"/>
          <p:cNvSpPr txBox="1"/>
          <p:nvPr>
            <p:ph idx="16" type="subTitle"/>
          </p:nvPr>
        </p:nvSpPr>
        <p:spPr>
          <a:xfrm>
            <a:off x="8382100" y="5560800"/>
            <a:ext cx="3179100" cy="66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6 cards">
  <p:cSld name="CUSTOM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2c73c3ada47f7cb8_1_1992"/>
          <p:cNvSpPr txBox="1"/>
          <p:nvPr>
            <p:ph type="title"/>
          </p:nvPr>
        </p:nvSpPr>
        <p:spPr>
          <a:xfrm>
            <a:off x="377967" y="888733"/>
            <a:ext cx="7497900" cy="6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2" name="Google Shape;162;h2c73c3ada47f7cb8_1_1992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63" name="Google Shape;163;h2c73c3ada47f7cb8_1_1992"/>
          <p:cNvSpPr/>
          <p:nvPr>
            <p:ph idx="2" type="pic"/>
          </p:nvPr>
        </p:nvSpPr>
        <p:spPr>
          <a:xfrm>
            <a:off x="377967" y="2172533"/>
            <a:ext cx="1823100" cy="19827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4" name="Google Shape;164;h2c73c3ada47f7cb8_1_1992"/>
          <p:cNvSpPr txBox="1"/>
          <p:nvPr>
            <p:ph idx="3" type="subTitle"/>
          </p:nvPr>
        </p:nvSpPr>
        <p:spPr>
          <a:xfrm>
            <a:off x="634000" y="4177700"/>
            <a:ext cx="1443600" cy="57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65" name="Google Shape;165;h2c73c3ada47f7cb8_1_1992"/>
          <p:cNvSpPr txBox="1"/>
          <p:nvPr>
            <p:ph idx="4" type="subTitle"/>
          </p:nvPr>
        </p:nvSpPr>
        <p:spPr>
          <a:xfrm>
            <a:off x="630700" y="5143967"/>
            <a:ext cx="1443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66" name="Google Shape;166;h2c73c3ada47f7cb8_1_1992"/>
          <p:cNvSpPr/>
          <p:nvPr>
            <p:ph idx="5" type="pic"/>
          </p:nvPr>
        </p:nvSpPr>
        <p:spPr>
          <a:xfrm>
            <a:off x="2300850" y="2172533"/>
            <a:ext cx="1823100" cy="19827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7" name="Google Shape;167;h2c73c3ada47f7cb8_1_1992"/>
          <p:cNvSpPr txBox="1"/>
          <p:nvPr>
            <p:ph idx="6" type="subTitle"/>
          </p:nvPr>
        </p:nvSpPr>
        <p:spPr>
          <a:xfrm>
            <a:off x="2556900" y="4177699"/>
            <a:ext cx="1443600" cy="57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68" name="Google Shape;168;h2c73c3ada47f7cb8_1_1992"/>
          <p:cNvSpPr txBox="1"/>
          <p:nvPr>
            <p:ph idx="7" type="subTitle"/>
          </p:nvPr>
        </p:nvSpPr>
        <p:spPr>
          <a:xfrm>
            <a:off x="2553583" y="5143967"/>
            <a:ext cx="1443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69" name="Google Shape;169;h2c73c3ada47f7cb8_1_1992"/>
          <p:cNvSpPr/>
          <p:nvPr>
            <p:ph idx="8" type="pic"/>
          </p:nvPr>
        </p:nvSpPr>
        <p:spPr>
          <a:xfrm>
            <a:off x="4223283" y="2172533"/>
            <a:ext cx="1823100" cy="19827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0" name="Google Shape;170;h2c73c3ada47f7cb8_1_1992"/>
          <p:cNvSpPr txBox="1"/>
          <p:nvPr>
            <p:ph idx="9" type="subTitle"/>
          </p:nvPr>
        </p:nvSpPr>
        <p:spPr>
          <a:xfrm>
            <a:off x="4479333" y="4177700"/>
            <a:ext cx="1443600" cy="57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71" name="Google Shape;171;h2c73c3ada47f7cb8_1_1992"/>
          <p:cNvSpPr txBox="1"/>
          <p:nvPr>
            <p:ph idx="13" type="subTitle"/>
          </p:nvPr>
        </p:nvSpPr>
        <p:spPr>
          <a:xfrm>
            <a:off x="4476017" y="5143967"/>
            <a:ext cx="1443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2" name="Google Shape;172;h2c73c3ada47f7cb8_1_1992"/>
          <p:cNvSpPr/>
          <p:nvPr>
            <p:ph idx="14" type="pic"/>
          </p:nvPr>
        </p:nvSpPr>
        <p:spPr>
          <a:xfrm>
            <a:off x="6145733" y="2172533"/>
            <a:ext cx="1823100" cy="19827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h2c73c3ada47f7cb8_1_1992"/>
          <p:cNvSpPr txBox="1"/>
          <p:nvPr>
            <p:ph idx="15" type="subTitle"/>
          </p:nvPr>
        </p:nvSpPr>
        <p:spPr>
          <a:xfrm>
            <a:off x="6401767" y="4155332"/>
            <a:ext cx="1443600" cy="59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74" name="Google Shape;174;h2c73c3ada47f7cb8_1_1992"/>
          <p:cNvSpPr txBox="1"/>
          <p:nvPr>
            <p:ph idx="16" type="subTitle"/>
          </p:nvPr>
        </p:nvSpPr>
        <p:spPr>
          <a:xfrm>
            <a:off x="6398467" y="5143967"/>
            <a:ext cx="1443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5" name="Google Shape;175;h2c73c3ada47f7cb8_1_1992"/>
          <p:cNvSpPr/>
          <p:nvPr>
            <p:ph idx="17" type="pic"/>
          </p:nvPr>
        </p:nvSpPr>
        <p:spPr>
          <a:xfrm>
            <a:off x="8068183" y="2172533"/>
            <a:ext cx="1823100" cy="19827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6" name="Google Shape;176;h2c73c3ada47f7cb8_1_1992"/>
          <p:cNvSpPr txBox="1"/>
          <p:nvPr>
            <p:ph idx="18" type="subTitle"/>
          </p:nvPr>
        </p:nvSpPr>
        <p:spPr>
          <a:xfrm>
            <a:off x="8324233" y="4155299"/>
            <a:ext cx="1443600" cy="59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77" name="Google Shape;177;h2c73c3ada47f7cb8_1_1992"/>
          <p:cNvSpPr txBox="1"/>
          <p:nvPr>
            <p:ph idx="19" type="subTitle"/>
          </p:nvPr>
        </p:nvSpPr>
        <p:spPr>
          <a:xfrm>
            <a:off x="8320917" y="5143967"/>
            <a:ext cx="1443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8" name="Google Shape;178;h2c73c3ada47f7cb8_1_1992"/>
          <p:cNvSpPr/>
          <p:nvPr>
            <p:ph idx="20" type="pic"/>
          </p:nvPr>
        </p:nvSpPr>
        <p:spPr>
          <a:xfrm>
            <a:off x="9990650" y="2172533"/>
            <a:ext cx="1823100" cy="19827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9" name="Google Shape;179;h2c73c3ada47f7cb8_1_1992"/>
          <p:cNvSpPr txBox="1"/>
          <p:nvPr>
            <p:ph idx="21" type="subTitle"/>
          </p:nvPr>
        </p:nvSpPr>
        <p:spPr>
          <a:xfrm>
            <a:off x="10246700" y="4155300"/>
            <a:ext cx="1380900" cy="59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anrope Light"/>
              <a:buNone/>
              <a:defRPr sz="21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80" name="Google Shape;180;h2c73c3ada47f7cb8_1_1992"/>
          <p:cNvSpPr txBox="1"/>
          <p:nvPr>
            <p:ph idx="22" type="subTitle"/>
          </p:nvPr>
        </p:nvSpPr>
        <p:spPr>
          <a:xfrm>
            <a:off x="10243383" y="5143967"/>
            <a:ext cx="1443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graph ALT 1">
  <p:cSld name="TITLE_ONLY_2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2c73c3ada47f7cb8_1_2013"/>
          <p:cNvSpPr txBox="1"/>
          <p:nvPr>
            <p:ph idx="1" type="body"/>
          </p:nvPr>
        </p:nvSpPr>
        <p:spPr>
          <a:xfrm>
            <a:off x="9615067" y="3294533"/>
            <a:ext cx="21987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83" name="Google Shape;183;h2c73c3ada47f7cb8_1_2013"/>
          <p:cNvSpPr txBox="1"/>
          <p:nvPr>
            <p:ph idx="2" type="body"/>
          </p:nvPr>
        </p:nvSpPr>
        <p:spPr>
          <a:xfrm>
            <a:off x="9615067" y="4004929"/>
            <a:ext cx="21987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84" name="Google Shape;184;h2c73c3ada47f7cb8_1_2013"/>
          <p:cNvSpPr txBox="1"/>
          <p:nvPr>
            <p:ph idx="3" type="body"/>
          </p:nvPr>
        </p:nvSpPr>
        <p:spPr>
          <a:xfrm>
            <a:off x="9615067" y="4717403"/>
            <a:ext cx="21987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85" name="Google Shape;185;h2c73c3ada47f7cb8_1_2013"/>
          <p:cNvSpPr txBox="1"/>
          <p:nvPr>
            <p:ph idx="4" type="body"/>
          </p:nvPr>
        </p:nvSpPr>
        <p:spPr>
          <a:xfrm>
            <a:off x="9615067" y="5433939"/>
            <a:ext cx="21987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86" name="Google Shape;186;h2c73c3ada47f7cb8_1_2013"/>
          <p:cNvSpPr txBox="1"/>
          <p:nvPr>
            <p:ph idx="12" type="sldNum"/>
          </p:nvPr>
        </p:nvSpPr>
        <p:spPr>
          <a:xfrm>
            <a:off x="11082433" y="6262252"/>
            <a:ext cx="731700" cy="243900"/>
          </a:xfrm>
          <a:prstGeom prst="rect">
            <a:avLst/>
          </a:prstGeom>
        </p:spPr>
        <p:txBody>
          <a:bodyPr anchorCtr="0" anchor="b" bIns="0" lIns="121900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h2c73c3ada47f7cb8_1_2013"/>
          <p:cNvSpPr txBox="1"/>
          <p:nvPr>
            <p:ph idx="5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88" name="Google Shape;188;h2c73c3ada47f7cb8_1_2013"/>
          <p:cNvSpPr txBox="1"/>
          <p:nvPr>
            <p:ph type="title"/>
          </p:nvPr>
        </p:nvSpPr>
        <p:spPr>
          <a:xfrm>
            <a:off x="377967" y="852967"/>
            <a:ext cx="111801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9" name="Google Shape;189;h2c73c3ada47f7cb8_1_2013"/>
          <p:cNvSpPr txBox="1"/>
          <p:nvPr>
            <p:ph idx="6" type="subTitle"/>
          </p:nvPr>
        </p:nvSpPr>
        <p:spPr>
          <a:xfrm>
            <a:off x="546467" y="3289500"/>
            <a:ext cx="2443200" cy="3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90" name="Google Shape;190;h2c73c3ada47f7cb8_1_2013"/>
          <p:cNvSpPr txBox="1"/>
          <p:nvPr>
            <p:ph idx="7" type="subTitle"/>
          </p:nvPr>
        </p:nvSpPr>
        <p:spPr>
          <a:xfrm>
            <a:off x="546467" y="4001980"/>
            <a:ext cx="2443200" cy="3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91" name="Google Shape;191;h2c73c3ada47f7cb8_1_2013"/>
          <p:cNvSpPr txBox="1"/>
          <p:nvPr>
            <p:ph idx="8" type="subTitle"/>
          </p:nvPr>
        </p:nvSpPr>
        <p:spPr>
          <a:xfrm>
            <a:off x="546467" y="4714476"/>
            <a:ext cx="2443200" cy="3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92" name="Google Shape;192;h2c73c3ada47f7cb8_1_2013"/>
          <p:cNvSpPr txBox="1"/>
          <p:nvPr>
            <p:ph idx="9" type="subTitle"/>
          </p:nvPr>
        </p:nvSpPr>
        <p:spPr>
          <a:xfrm>
            <a:off x="546467" y="5426972"/>
            <a:ext cx="2443200" cy="3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93" name="Google Shape;193;h2c73c3ada47f7cb8_1_2013"/>
          <p:cNvSpPr txBox="1"/>
          <p:nvPr>
            <p:ph idx="13" type="subTitle"/>
          </p:nvPr>
        </p:nvSpPr>
        <p:spPr>
          <a:xfrm>
            <a:off x="546467" y="6139468"/>
            <a:ext cx="2443200" cy="3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94" name="Google Shape;194;h2c73c3ada47f7cb8_1_2013"/>
          <p:cNvSpPr txBox="1"/>
          <p:nvPr>
            <p:ph idx="14" type="subTitle"/>
          </p:nvPr>
        </p:nvSpPr>
        <p:spPr>
          <a:xfrm>
            <a:off x="3366433" y="2652386"/>
            <a:ext cx="11553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95" name="Google Shape;195;h2c73c3ada47f7cb8_1_2013"/>
          <p:cNvSpPr txBox="1"/>
          <p:nvPr>
            <p:ph idx="15" type="subTitle"/>
          </p:nvPr>
        </p:nvSpPr>
        <p:spPr>
          <a:xfrm>
            <a:off x="5518400" y="2652386"/>
            <a:ext cx="11553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96" name="Google Shape;196;h2c73c3ada47f7cb8_1_2013"/>
          <p:cNvSpPr txBox="1"/>
          <p:nvPr>
            <p:ph idx="16" type="subTitle"/>
          </p:nvPr>
        </p:nvSpPr>
        <p:spPr>
          <a:xfrm>
            <a:off x="7561367" y="2652386"/>
            <a:ext cx="11553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97" name="Google Shape;197;h2c73c3ada47f7cb8_1_2013"/>
          <p:cNvSpPr txBox="1"/>
          <p:nvPr>
            <p:ph idx="17" type="subTitle"/>
          </p:nvPr>
        </p:nvSpPr>
        <p:spPr>
          <a:xfrm>
            <a:off x="9640110" y="2652400"/>
            <a:ext cx="23907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None/>
              <a:defRPr sz="12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98" name="Google Shape;198;h2c73c3ada47f7cb8_1_2013"/>
          <p:cNvSpPr txBox="1"/>
          <p:nvPr>
            <p:ph idx="18" type="subTitle"/>
          </p:nvPr>
        </p:nvSpPr>
        <p:spPr>
          <a:xfrm>
            <a:off x="3257433" y="3398367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99" name="Google Shape;199;h2c73c3ada47f7cb8_1_2013"/>
          <p:cNvSpPr txBox="1"/>
          <p:nvPr>
            <p:ph idx="19" type="subTitle"/>
          </p:nvPr>
        </p:nvSpPr>
        <p:spPr>
          <a:xfrm>
            <a:off x="3257433" y="4115418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0" name="Google Shape;200;h2c73c3ada47f7cb8_1_2013"/>
          <p:cNvSpPr txBox="1"/>
          <p:nvPr>
            <p:ph idx="20" type="subTitle"/>
          </p:nvPr>
        </p:nvSpPr>
        <p:spPr>
          <a:xfrm>
            <a:off x="3257433" y="4832484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1" name="Google Shape;201;h2c73c3ada47f7cb8_1_2013"/>
          <p:cNvSpPr txBox="1"/>
          <p:nvPr>
            <p:ph idx="21" type="subTitle"/>
          </p:nvPr>
        </p:nvSpPr>
        <p:spPr>
          <a:xfrm>
            <a:off x="3257433" y="5543981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2" name="Google Shape;202;h2c73c3ada47f7cb8_1_2013"/>
          <p:cNvSpPr txBox="1"/>
          <p:nvPr>
            <p:ph idx="22" type="subTitle"/>
          </p:nvPr>
        </p:nvSpPr>
        <p:spPr>
          <a:xfrm>
            <a:off x="3257433" y="6255447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3" name="Google Shape;203;h2c73c3ada47f7cb8_1_2013"/>
          <p:cNvSpPr txBox="1"/>
          <p:nvPr>
            <p:ph idx="23" type="subTitle"/>
          </p:nvPr>
        </p:nvSpPr>
        <p:spPr>
          <a:xfrm>
            <a:off x="5409400" y="3398367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4" name="Google Shape;204;h2c73c3ada47f7cb8_1_2013"/>
          <p:cNvSpPr txBox="1"/>
          <p:nvPr>
            <p:ph idx="24" type="subTitle"/>
          </p:nvPr>
        </p:nvSpPr>
        <p:spPr>
          <a:xfrm>
            <a:off x="5409400" y="4115418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5" name="Google Shape;205;h2c73c3ada47f7cb8_1_2013"/>
          <p:cNvSpPr txBox="1"/>
          <p:nvPr>
            <p:ph idx="25" type="subTitle"/>
          </p:nvPr>
        </p:nvSpPr>
        <p:spPr>
          <a:xfrm>
            <a:off x="5409400" y="4832484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6" name="Google Shape;206;h2c73c3ada47f7cb8_1_2013"/>
          <p:cNvSpPr txBox="1"/>
          <p:nvPr>
            <p:ph idx="26" type="subTitle"/>
          </p:nvPr>
        </p:nvSpPr>
        <p:spPr>
          <a:xfrm>
            <a:off x="5409400" y="5543981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7" name="Google Shape;207;h2c73c3ada47f7cb8_1_2013"/>
          <p:cNvSpPr txBox="1"/>
          <p:nvPr>
            <p:ph idx="27" type="subTitle"/>
          </p:nvPr>
        </p:nvSpPr>
        <p:spPr>
          <a:xfrm>
            <a:off x="5409400" y="6255447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8" name="Google Shape;208;h2c73c3ada47f7cb8_1_2013"/>
          <p:cNvSpPr txBox="1"/>
          <p:nvPr>
            <p:ph idx="28" type="subTitle"/>
          </p:nvPr>
        </p:nvSpPr>
        <p:spPr>
          <a:xfrm>
            <a:off x="7453000" y="3398367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9" name="Google Shape;209;h2c73c3ada47f7cb8_1_2013"/>
          <p:cNvSpPr txBox="1"/>
          <p:nvPr>
            <p:ph idx="29" type="subTitle"/>
          </p:nvPr>
        </p:nvSpPr>
        <p:spPr>
          <a:xfrm>
            <a:off x="7453000" y="4115418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10" name="Google Shape;210;h2c73c3ada47f7cb8_1_2013"/>
          <p:cNvSpPr txBox="1"/>
          <p:nvPr>
            <p:ph idx="30" type="subTitle"/>
          </p:nvPr>
        </p:nvSpPr>
        <p:spPr>
          <a:xfrm>
            <a:off x="7453000" y="4832484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11" name="Google Shape;211;h2c73c3ada47f7cb8_1_2013"/>
          <p:cNvSpPr txBox="1"/>
          <p:nvPr>
            <p:ph idx="31" type="subTitle"/>
          </p:nvPr>
        </p:nvSpPr>
        <p:spPr>
          <a:xfrm>
            <a:off x="7453000" y="5543981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12" name="Google Shape;212;h2c73c3ada47f7cb8_1_2013"/>
          <p:cNvSpPr txBox="1"/>
          <p:nvPr>
            <p:ph idx="32" type="subTitle"/>
          </p:nvPr>
        </p:nvSpPr>
        <p:spPr>
          <a:xfrm>
            <a:off x="7453000" y="6255447"/>
            <a:ext cx="1373100" cy="16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13" name="Google Shape;213;h2c73c3ada47f7cb8_1_2013"/>
          <p:cNvSpPr txBox="1"/>
          <p:nvPr>
            <p:ph idx="33" type="body"/>
          </p:nvPr>
        </p:nvSpPr>
        <p:spPr>
          <a:xfrm>
            <a:off x="9615067" y="6144200"/>
            <a:ext cx="21987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●"/>
              <a:defRPr sz="1100">
                <a:latin typeface="Manrope"/>
                <a:ea typeface="Manrope"/>
                <a:cs typeface="Manrope"/>
                <a:sym typeface="Manrope"/>
              </a:defRPr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○"/>
              <a:defRPr sz="1100">
                <a:latin typeface="Manrope"/>
                <a:ea typeface="Manrope"/>
                <a:cs typeface="Manrope"/>
                <a:sym typeface="Manrope"/>
              </a:defRPr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"/>
              <a:buChar char="■"/>
              <a:defRPr sz="11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graph ALT 2">
  <p:cSld name="TITLE_ONLY_2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2c73c3ada47f7cb8_1_2046"/>
          <p:cNvSpPr txBox="1"/>
          <p:nvPr>
            <p:ph type="title"/>
          </p:nvPr>
        </p:nvSpPr>
        <p:spPr>
          <a:xfrm>
            <a:off x="377967" y="852967"/>
            <a:ext cx="111801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cxnSp>
        <p:nvCxnSpPr>
          <p:cNvPr id="216" name="Google Shape;216;h2c73c3ada47f7cb8_1_2046"/>
          <p:cNvCxnSpPr/>
          <p:nvPr/>
        </p:nvCxnSpPr>
        <p:spPr>
          <a:xfrm>
            <a:off x="1735233" y="4084533"/>
            <a:ext cx="1015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7" name="Google Shape;217;h2c73c3ada47f7cb8_1_2046"/>
          <p:cNvCxnSpPr/>
          <p:nvPr/>
        </p:nvCxnSpPr>
        <p:spPr>
          <a:xfrm>
            <a:off x="1735233" y="4626967"/>
            <a:ext cx="1015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8" name="Google Shape;218;h2c73c3ada47f7cb8_1_2046"/>
          <p:cNvCxnSpPr/>
          <p:nvPr/>
        </p:nvCxnSpPr>
        <p:spPr>
          <a:xfrm>
            <a:off x="1735233" y="5169400"/>
            <a:ext cx="1015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9" name="Google Shape;219;h2c73c3ada47f7cb8_1_2046"/>
          <p:cNvCxnSpPr/>
          <p:nvPr/>
        </p:nvCxnSpPr>
        <p:spPr>
          <a:xfrm>
            <a:off x="1735233" y="5711833"/>
            <a:ext cx="1015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20" name="Google Shape;220;h2c73c3ada47f7cb8_1_2046"/>
          <p:cNvCxnSpPr/>
          <p:nvPr/>
        </p:nvCxnSpPr>
        <p:spPr>
          <a:xfrm>
            <a:off x="1735233" y="6246667"/>
            <a:ext cx="1015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1" name="Google Shape;221;h2c73c3ada47f7cb8_1_2046"/>
          <p:cNvSpPr txBox="1"/>
          <p:nvPr>
            <p:ph idx="1" type="subTitle"/>
          </p:nvPr>
        </p:nvSpPr>
        <p:spPr>
          <a:xfrm>
            <a:off x="480000" y="2665410"/>
            <a:ext cx="26853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22" name="Google Shape;222;h2c73c3ada47f7cb8_1_2046"/>
          <p:cNvSpPr txBox="1"/>
          <p:nvPr>
            <p:ph idx="2" type="subTitle"/>
          </p:nvPr>
        </p:nvSpPr>
        <p:spPr>
          <a:xfrm>
            <a:off x="4720133" y="2665410"/>
            <a:ext cx="26853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23" name="Google Shape;223;h2c73c3ada47f7cb8_1_2046"/>
          <p:cNvSpPr txBox="1"/>
          <p:nvPr>
            <p:ph idx="3" type="subTitle"/>
          </p:nvPr>
        </p:nvSpPr>
        <p:spPr>
          <a:xfrm>
            <a:off x="8274667" y="2665410"/>
            <a:ext cx="26853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24" name="Google Shape;224;h2c73c3ada47f7cb8_1_2046"/>
          <p:cNvSpPr txBox="1"/>
          <p:nvPr>
            <p:ph idx="4" type="subTitle"/>
          </p:nvPr>
        </p:nvSpPr>
        <p:spPr>
          <a:xfrm>
            <a:off x="304800" y="3986795"/>
            <a:ext cx="1430400" cy="20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25" name="Google Shape;225;h2c73c3ada47f7cb8_1_2046"/>
          <p:cNvSpPr txBox="1"/>
          <p:nvPr>
            <p:ph idx="5" type="subTitle"/>
          </p:nvPr>
        </p:nvSpPr>
        <p:spPr>
          <a:xfrm>
            <a:off x="304800" y="4514570"/>
            <a:ext cx="1430400" cy="20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26" name="Google Shape;226;h2c73c3ada47f7cb8_1_2046"/>
          <p:cNvSpPr txBox="1"/>
          <p:nvPr>
            <p:ph idx="6" type="subTitle"/>
          </p:nvPr>
        </p:nvSpPr>
        <p:spPr>
          <a:xfrm>
            <a:off x="304800" y="5058223"/>
            <a:ext cx="1430400" cy="20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27" name="Google Shape;227;h2c73c3ada47f7cb8_1_2046"/>
          <p:cNvSpPr txBox="1"/>
          <p:nvPr>
            <p:ph idx="7" type="subTitle"/>
          </p:nvPr>
        </p:nvSpPr>
        <p:spPr>
          <a:xfrm>
            <a:off x="304800" y="5607187"/>
            <a:ext cx="1430400" cy="20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28" name="Google Shape;228;h2c73c3ada47f7cb8_1_2046"/>
          <p:cNvSpPr txBox="1"/>
          <p:nvPr>
            <p:ph idx="8" type="subTitle"/>
          </p:nvPr>
        </p:nvSpPr>
        <p:spPr>
          <a:xfrm>
            <a:off x="304800" y="6144054"/>
            <a:ext cx="1430400" cy="20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29" name="Google Shape;229;h2c73c3ada47f7cb8_1_2046"/>
          <p:cNvSpPr txBox="1"/>
          <p:nvPr>
            <p:ph idx="9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 and description">
  <p:cSld name="ONE_COLUMN_TEXT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2c73c3ada47f7cb8_1_2062"/>
          <p:cNvSpPr txBox="1"/>
          <p:nvPr>
            <p:ph idx="12" type="sldNum"/>
          </p:nvPr>
        </p:nvSpPr>
        <p:spPr>
          <a:xfrm>
            <a:off x="11082433" y="6262252"/>
            <a:ext cx="731700" cy="243900"/>
          </a:xfrm>
          <a:prstGeom prst="rect">
            <a:avLst/>
          </a:prstGeom>
        </p:spPr>
        <p:txBody>
          <a:bodyPr anchorCtr="0" anchor="b" bIns="0" lIns="121900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h2c73c3ada47f7cb8_1_2062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33" name="Google Shape;233;h2c73c3ada47f7cb8_1_2062"/>
          <p:cNvSpPr txBox="1"/>
          <p:nvPr>
            <p:ph idx="2" type="subTitle"/>
          </p:nvPr>
        </p:nvSpPr>
        <p:spPr>
          <a:xfrm>
            <a:off x="634000" y="2706700"/>
            <a:ext cx="52371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34" name="Google Shape;234;h2c73c3ada47f7cb8_1_2062"/>
          <p:cNvSpPr txBox="1"/>
          <p:nvPr>
            <p:ph idx="3" type="subTitle"/>
          </p:nvPr>
        </p:nvSpPr>
        <p:spPr>
          <a:xfrm>
            <a:off x="634000" y="4078200"/>
            <a:ext cx="52371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35" name="Google Shape;235;h2c73c3ada47f7cb8_1_2062"/>
          <p:cNvSpPr txBox="1"/>
          <p:nvPr>
            <p:ph idx="4" type="subTitle"/>
          </p:nvPr>
        </p:nvSpPr>
        <p:spPr>
          <a:xfrm>
            <a:off x="634000" y="5449700"/>
            <a:ext cx="52371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SemiBold"/>
              <a:buNone/>
              <a:defRPr sz="1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36" name="Google Shape;236;h2c73c3ada47f7cb8_1_2062"/>
          <p:cNvSpPr txBox="1"/>
          <p:nvPr>
            <p:ph idx="5" type="subTitle"/>
          </p:nvPr>
        </p:nvSpPr>
        <p:spPr>
          <a:xfrm>
            <a:off x="6217933" y="3040000"/>
            <a:ext cx="4554000" cy="7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237" name="Google Shape;237;h2c73c3ada47f7cb8_1_2062"/>
          <p:cNvSpPr txBox="1"/>
          <p:nvPr>
            <p:ph idx="6" type="subTitle"/>
          </p:nvPr>
        </p:nvSpPr>
        <p:spPr>
          <a:xfrm>
            <a:off x="6217933" y="4370433"/>
            <a:ext cx="4554000" cy="7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238" name="Google Shape;238;h2c73c3ada47f7cb8_1_2062"/>
          <p:cNvSpPr txBox="1"/>
          <p:nvPr>
            <p:ph idx="7" type="subTitle"/>
          </p:nvPr>
        </p:nvSpPr>
        <p:spPr>
          <a:xfrm>
            <a:off x="6217933" y="5751167"/>
            <a:ext cx="4554000" cy="7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Nunito SemiBold"/>
              <a:buNone/>
              <a:defRPr sz="13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239" name="Google Shape;239;h2c73c3ada47f7cb8_1_2062"/>
          <p:cNvSpPr txBox="1"/>
          <p:nvPr>
            <p:ph type="title"/>
          </p:nvPr>
        </p:nvSpPr>
        <p:spPr>
          <a:xfrm>
            <a:off x="377967" y="852962"/>
            <a:ext cx="73308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highlights">
  <p:cSld name="CUSTOM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2c73c3ada47f7cb8_1_2072"/>
          <p:cNvSpPr/>
          <p:nvPr>
            <p:ph idx="2" type="pic"/>
          </p:nvPr>
        </p:nvSpPr>
        <p:spPr>
          <a:xfrm rot="-5400000">
            <a:off x="8311433" y="2976233"/>
            <a:ext cx="4460100" cy="3318300"/>
          </a:xfrm>
          <a:prstGeom prst="round1Rect">
            <a:avLst>
              <a:gd fmla="val 9806" name="adj"/>
            </a:avLst>
          </a:prstGeom>
          <a:noFill/>
          <a:ln>
            <a:noFill/>
          </a:ln>
        </p:spPr>
      </p:sp>
      <p:sp>
        <p:nvSpPr>
          <p:cNvPr id="242" name="Google Shape;242;h2c73c3ada47f7cb8_1_2072"/>
          <p:cNvSpPr/>
          <p:nvPr/>
        </p:nvSpPr>
        <p:spPr>
          <a:xfrm rot="-5400000">
            <a:off x="2350167" y="432300"/>
            <a:ext cx="4452000" cy="8396400"/>
          </a:xfrm>
          <a:prstGeom prst="round1Rect">
            <a:avLst>
              <a:gd fmla="val 8032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13440000" dist="152400">
              <a:schemeClr val="dk1">
                <a:alpha val="392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43" name="Google Shape;243;h2c73c3ada47f7cb8_1_2072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44" name="Google Shape;244;h2c73c3ada47f7cb8_1_2072"/>
          <p:cNvSpPr txBox="1"/>
          <p:nvPr>
            <p:ph type="title"/>
          </p:nvPr>
        </p:nvSpPr>
        <p:spPr>
          <a:xfrm>
            <a:off x="377967" y="852962"/>
            <a:ext cx="8510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45" name="Google Shape;245;h2c73c3ada47f7cb8_1_2072"/>
          <p:cNvSpPr txBox="1"/>
          <p:nvPr>
            <p:ph idx="3" type="subTitle"/>
          </p:nvPr>
        </p:nvSpPr>
        <p:spPr>
          <a:xfrm>
            <a:off x="842333" y="2977333"/>
            <a:ext cx="537600" cy="2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46" name="Google Shape;246;h2c73c3ada47f7cb8_1_2072"/>
          <p:cNvSpPr txBox="1"/>
          <p:nvPr>
            <p:ph idx="4" type="subTitle"/>
          </p:nvPr>
        </p:nvSpPr>
        <p:spPr>
          <a:xfrm>
            <a:off x="842333" y="3893531"/>
            <a:ext cx="537600" cy="2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47" name="Google Shape;247;h2c73c3ada47f7cb8_1_2072"/>
          <p:cNvSpPr txBox="1"/>
          <p:nvPr>
            <p:ph idx="5" type="subTitle"/>
          </p:nvPr>
        </p:nvSpPr>
        <p:spPr>
          <a:xfrm>
            <a:off x="842333" y="4835167"/>
            <a:ext cx="5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48" name="Google Shape;248;h2c73c3ada47f7cb8_1_2072"/>
          <p:cNvSpPr txBox="1"/>
          <p:nvPr>
            <p:ph idx="6" type="subTitle"/>
          </p:nvPr>
        </p:nvSpPr>
        <p:spPr>
          <a:xfrm>
            <a:off x="842333" y="5801059"/>
            <a:ext cx="5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49" name="Google Shape;249;h2c73c3ada47f7cb8_1_2072"/>
          <p:cNvSpPr txBox="1"/>
          <p:nvPr>
            <p:ph idx="7" type="subTitle"/>
          </p:nvPr>
        </p:nvSpPr>
        <p:spPr>
          <a:xfrm>
            <a:off x="1379935" y="2973915"/>
            <a:ext cx="1792800" cy="3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50" name="Google Shape;250;h2c73c3ada47f7cb8_1_2072"/>
          <p:cNvSpPr txBox="1"/>
          <p:nvPr>
            <p:ph idx="8" type="subTitle"/>
          </p:nvPr>
        </p:nvSpPr>
        <p:spPr>
          <a:xfrm>
            <a:off x="1379935" y="3893531"/>
            <a:ext cx="1792800" cy="3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51" name="Google Shape;251;h2c73c3ada47f7cb8_1_2072"/>
          <p:cNvSpPr txBox="1"/>
          <p:nvPr>
            <p:ph idx="9" type="subTitle"/>
          </p:nvPr>
        </p:nvSpPr>
        <p:spPr>
          <a:xfrm>
            <a:off x="1379935" y="4835167"/>
            <a:ext cx="1792800" cy="3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52" name="Google Shape;252;h2c73c3ada47f7cb8_1_2072"/>
          <p:cNvSpPr txBox="1"/>
          <p:nvPr>
            <p:ph idx="13" type="subTitle"/>
          </p:nvPr>
        </p:nvSpPr>
        <p:spPr>
          <a:xfrm>
            <a:off x="1379935" y="5801059"/>
            <a:ext cx="1792800" cy="3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53" name="Google Shape;253;h2c73c3ada47f7cb8_1_2072"/>
          <p:cNvSpPr txBox="1"/>
          <p:nvPr>
            <p:ph idx="14" type="subTitle"/>
          </p:nvPr>
        </p:nvSpPr>
        <p:spPr>
          <a:xfrm>
            <a:off x="3420767" y="2938900"/>
            <a:ext cx="41163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54" name="Google Shape;254;h2c73c3ada47f7cb8_1_2072"/>
          <p:cNvSpPr txBox="1"/>
          <p:nvPr>
            <p:ph idx="15" type="subTitle"/>
          </p:nvPr>
        </p:nvSpPr>
        <p:spPr>
          <a:xfrm>
            <a:off x="3420767" y="3893175"/>
            <a:ext cx="41163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55" name="Google Shape;255;h2c73c3ada47f7cb8_1_2072"/>
          <p:cNvSpPr txBox="1"/>
          <p:nvPr>
            <p:ph idx="16" type="subTitle"/>
          </p:nvPr>
        </p:nvSpPr>
        <p:spPr>
          <a:xfrm>
            <a:off x="3420767" y="4847560"/>
            <a:ext cx="41163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56" name="Google Shape;256;h2c73c3ada47f7cb8_1_2072"/>
          <p:cNvSpPr txBox="1"/>
          <p:nvPr>
            <p:ph idx="17" type="subTitle"/>
          </p:nvPr>
        </p:nvSpPr>
        <p:spPr>
          <a:xfrm>
            <a:off x="3420767" y="5800399"/>
            <a:ext cx="41163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1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2c73c3ada47f7cb8_1_2089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59" name="Google Shape;259;h2c73c3ada47f7cb8_1_2089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60" name="Google Shape;260;h2c73c3ada47f7cb8_1_2089"/>
          <p:cNvSpPr txBox="1"/>
          <p:nvPr>
            <p:ph idx="2" type="subTitle"/>
          </p:nvPr>
        </p:nvSpPr>
        <p:spPr>
          <a:xfrm>
            <a:off x="377967" y="5003867"/>
            <a:ext cx="3938100" cy="147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61" name="Google Shape;261;h2c73c3ada47f7cb8_1_2089"/>
          <p:cNvSpPr txBox="1"/>
          <p:nvPr>
            <p:ph idx="3" type="subTitle"/>
          </p:nvPr>
        </p:nvSpPr>
        <p:spPr>
          <a:xfrm>
            <a:off x="4964517" y="2748058"/>
            <a:ext cx="3033600" cy="2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62" name="Google Shape;262;h2c73c3ada47f7cb8_1_2089"/>
          <p:cNvSpPr txBox="1"/>
          <p:nvPr>
            <p:ph idx="4" type="subTitle"/>
          </p:nvPr>
        </p:nvSpPr>
        <p:spPr>
          <a:xfrm>
            <a:off x="4964517" y="3110925"/>
            <a:ext cx="3795300" cy="18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2">
  <p:cSld name="CUSTOM_4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2c73c3ada47f7cb8_1_2095"/>
          <p:cNvSpPr txBox="1"/>
          <p:nvPr>
            <p:ph idx="1" type="subTitle"/>
          </p:nvPr>
        </p:nvSpPr>
        <p:spPr>
          <a:xfrm>
            <a:off x="377967" y="5003867"/>
            <a:ext cx="3938100" cy="147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65" name="Google Shape;265;h2c73c3ada47f7cb8_1_2095"/>
          <p:cNvSpPr txBox="1"/>
          <p:nvPr>
            <p:ph idx="2" type="subTitle"/>
          </p:nvPr>
        </p:nvSpPr>
        <p:spPr>
          <a:xfrm>
            <a:off x="4964517" y="3110925"/>
            <a:ext cx="3795300" cy="18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66" name="Google Shape;266;h2c73c3ada47f7cb8_1_2095"/>
          <p:cNvSpPr txBox="1"/>
          <p:nvPr>
            <p:ph idx="3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67" name="Google Shape;267;h2c73c3ada47f7cb8_1_2095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68" name="Google Shape;268;h2c73c3ada47f7cb8_1_2095"/>
          <p:cNvSpPr txBox="1"/>
          <p:nvPr>
            <p:ph idx="4" type="subTitle"/>
          </p:nvPr>
        </p:nvSpPr>
        <p:spPr>
          <a:xfrm>
            <a:off x="4964517" y="2748058"/>
            <a:ext cx="3033600" cy="2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3">
  <p:cSld name="CUSTOM_4_1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2c73c3ada47f7cb8_1_2101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71" name="Google Shape;271;h2c73c3ada47f7cb8_1_2101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2" name="Google Shape;272;h2c73c3ada47f7cb8_1_2101"/>
          <p:cNvSpPr txBox="1"/>
          <p:nvPr>
            <p:ph idx="2" type="subTitle"/>
          </p:nvPr>
        </p:nvSpPr>
        <p:spPr>
          <a:xfrm>
            <a:off x="377967" y="5003867"/>
            <a:ext cx="3938100" cy="147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73" name="Google Shape;273;h2c73c3ada47f7cb8_1_2101"/>
          <p:cNvSpPr txBox="1"/>
          <p:nvPr>
            <p:ph idx="3" type="subTitle"/>
          </p:nvPr>
        </p:nvSpPr>
        <p:spPr>
          <a:xfrm>
            <a:off x="4964517" y="2748058"/>
            <a:ext cx="3033600" cy="2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4">
  <p:cSld name="CUSTOM_4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2c73c3ada47f7cb8_1_2106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76" name="Google Shape;276;h2c73c3ada47f7cb8_1_2106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7" name="Google Shape;277;h2c73c3ada47f7cb8_1_2106"/>
          <p:cNvSpPr txBox="1"/>
          <p:nvPr>
            <p:ph idx="2" type="subTitle"/>
          </p:nvPr>
        </p:nvSpPr>
        <p:spPr>
          <a:xfrm>
            <a:off x="377967" y="5003867"/>
            <a:ext cx="3938100" cy="147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78" name="Google Shape;278;h2c73c3ada47f7cb8_1_2106"/>
          <p:cNvSpPr txBox="1"/>
          <p:nvPr>
            <p:ph idx="3" type="subTitle"/>
          </p:nvPr>
        </p:nvSpPr>
        <p:spPr>
          <a:xfrm>
            <a:off x="4964517" y="2748058"/>
            <a:ext cx="3033600" cy="2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Light"/>
              <a:buNone/>
              <a:defRPr sz="13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Manrope SemiBold"/>
              <a:buNone/>
              <a:defRPr sz="13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Four cards">
  <p:cSld name="CUSTOM_6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2c73c3ada47f7cb8_1_2111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81" name="Google Shape;281;h2c73c3ada47f7cb8_1_2111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2" name="Google Shape;282;h2c73c3ada47f7cb8_1_2111"/>
          <p:cNvSpPr txBox="1"/>
          <p:nvPr>
            <p:ph idx="2" type="subTitle"/>
          </p:nvPr>
        </p:nvSpPr>
        <p:spPr>
          <a:xfrm>
            <a:off x="377967" y="5003867"/>
            <a:ext cx="3938100" cy="147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83" name="Google Shape;283;h2c73c3ada47f7cb8_1_2111"/>
          <p:cNvSpPr txBox="1"/>
          <p:nvPr>
            <p:ph idx="3" type="title"/>
          </p:nvPr>
        </p:nvSpPr>
        <p:spPr>
          <a:xfrm>
            <a:off x="6574000" y="1581600"/>
            <a:ext cx="4983900" cy="76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Font typeface="Manrope Medium"/>
              <a:buNone/>
              <a:defRPr sz="4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4" name="Google Shape;284;h2c73c3ada47f7cb8_1_2111"/>
          <p:cNvSpPr txBox="1"/>
          <p:nvPr>
            <p:ph idx="4" type="title"/>
          </p:nvPr>
        </p:nvSpPr>
        <p:spPr>
          <a:xfrm>
            <a:off x="6574133" y="3048400"/>
            <a:ext cx="4983900" cy="76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Font typeface="Manrope Medium"/>
              <a:buNone/>
              <a:defRPr sz="4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5" name="Google Shape;285;h2c73c3ada47f7cb8_1_2111"/>
          <p:cNvSpPr txBox="1"/>
          <p:nvPr>
            <p:ph idx="5" type="title"/>
          </p:nvPr>
        </p:nvSpPr>
        <p:spPr>
          <a:xfrm>
            <a:off x="9348900" y="5406167"/>
            <a:ext cx="2209200" cy="76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Font typeface="Manrope Medium"/>
              <a:buNone/>
              <a:defRPr sz="4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6" name="Google Shape;286;h2c73c3ada47f7cb8_1_2111"/>
          <p:cNvSpPr txBox="1"/>
          <p:nvPr>
            <p:ph idx="6" type="title"/>
          </p:nvPr>
        </p:nvSpPr>
        <p:spPr>
          <a:xfrm>
            <a:off x="6486933" y="5406167"/>
            <a:ext cx="2209200" cy="76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Font typeface="Manrope Medium"/>
              <a:buNone/>
              <a:defRPr sz="4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point">
  <p:cSld name="CUSTOM_7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2c73c3ada47f7cb8_1_2119"/>
          <p:cNvSpPr/>
          <p:nvPr>
            <p:ph idx="2" type="pic"/>
          </p:nvPr>
        </p:nvSpPr>
        <p:spPr>
          <a:xfrm rot="-5400000">
            <a:off x="6852117" y="1146150"/>
            <a:ext cx="6484800" cy="4193100"/>
          </a:xfrm>
          <a:prstGeom prst="round2SameRect">
            <a:avLst>
              <a:gd fmla="val 9992" name="adj1"/>
              <a:gd fmla="val 0" name="adj2"/>
            </a:avLst>
          </a:prstGeom>
          <a:noFill/>
          <a:ln>
            <a:noFill/>
          </a:ln>
        </p:spPr>
      </p:sp>
      <p:sp>
        <p:nvSpPr>
          <p:cNvPr id="289" name="Google Shape;289;h2c73c3ada47f7cb8_1_2119"/>
          <p:cNvSpPr/>
          <p:nvPr/>
        </p:nvSpPr>
        <p:spPr>
          <a:xfrm flipH="1" rot="5400000">
            <a:off x="706650" y="-706217"/>
            <a:ext cx="6466500" cy="78792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2580000" dist="152400">
              <a:schemeClr val="dk1">
                <a:alpha val="980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90" name="Google Shape;290;h2c73c3ada47f7cb8_1_2119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91" name="Google Shape;291;h2c73c3ada47f7cb8_1_2119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2" name="Google Shape;292;h2c73c3ada47f7cb8_1_2119"/>
          <p:cNvSpPr txBox="1"/>
          <p:nvPr>
            <p:ph idx="3" type="body"/>
          </p:nvPr>
        </p:nvSpPr>
        <p:spPr>
          <a:xfrm>
            <a:off x="377967" y="2526600"/>
            <a:ext cx="3816000" cy="31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93" name="Google Shape;293;h2c73c3ada47f7cb8_1_2119"/>
          <p:cNvSpPr txBox="1"/>
          <p:nvPr>
            <p:ph idx="4" type="title"/>
          </p:nvPr>
        </p:nvSpPr>
        <p:spPr>
          <a:xfrm>
            <a:off x="8302767" y="377967"/>
            <a:ext cx="3364800" cy="15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Manrope Light"/>
              <a:buNone/>
              <a:defRPr sz="96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ond point">
  <p:cSld name="CUSTOM_7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2c73c3ada47f7cb8_1_2126"/>
          <p:cNvSpPr/>
          <p:nvPr>
            <p:ph idx="2" type="pic"/>
          </p:nvPr>
        </p:nvSpPr>
        <p:spPr>
          <a:xfrm rot="-5400000">
            <a:off x="7566417" y="1831517"/>
            <a:ext cx="5069100" cy="4206000"/>
          </a:xfrm>
          <a:prstGeom prst="round2SameRect">
            <a:avLst>
              <a:gd fmla="val 9723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6" name="Google Shape;296;h2c73c3ada47f7cb8_1_2126"/>
          <p:cNvSpPr/>
          <p:nvPr/>
        </p:nvSpPr>
        <p:spPr>
          <a:xfrm flipH="1" rot="5400000">
            <a:off x="706650" y="-706217"/>
            <a:ext cx="6466500" cy="78792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2580000" dist="152400">
              <a:schemeClr val="dk1">
                <a:alpha val="980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97" name="Google Shape;297;h2c73c3ada47f7cb8_1_2126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98" name="Google Shape;298;h2c73c3ada47f7cb8_1_2126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9" name="Google Shape;299;h2c73c3ada47f7cb8_1_2126"/>
          <p:cNvSpPr txBox="1"/>
          <p:nvPr>
            <p:ph idx="3" type="body"/>
          </p:nvPr>
        </p:nvSpPr>
        <p:spPr>
          <a:xfrm>
            <a:off x="377967" y="2526600"/>
            <a:ext cx="3816000" cy="31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00" name="Google Shape;300;h2c73c3ada47f7cb8_1_2126"/>
          <p:cNvSpPr txBox="1"/>
          <p:nvPr>
            <p:ph idx="4" type="title"/>
          </p:nvPr>
        </p:nvSpPr>
        <p:spPr>
          <a:xfrm>
            <a:off x="8304933" y="1391533"/>
            <a:ext cx="3364800" cy="15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Manrope Light"/>
              <a:buNone/>
              <a:defRPr sz="96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point">
  <p:cSld name="CUSTOM_7_1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2c73c3ada47f7cb8_1_2133"/>
          <p:cNvSpPr/>
          <p:nvPr>
            <p:ph idx="2" type="pic"/>
          </p:nvPr>
        </p:nvSpPr>
        <p:spPr>
          <a:xfrm rot="-5400000">
            <a:off x="8349867" y="2619600"/>
            <a:ext cx="3494700" cy="4198500"/>
          </a:xfrm>
          <a:prstGeom prst="round2SameRect">
            <a:avLst>
              <a:gd fmla="val 10388" name="adj1"/>
              <a:gd fmla="val 0" name="adj2"/>
            </a:avLst>
          </a:prstGeom>
          <a:noFill/>
          <a:ln>
            <a:noFill/>
          </a:ln>
        </p:spPr>
      </p:sp>
      <p:sp>
        <p:nvSpPr>
          <p:cNvPr id="303" name="Google Shape;303;h2c73c3ada47f7cb8_1_2133"/>
          <p:cNvSpPr/>
          <p:nvPr/>
        </p:nvSpPr>
        <p:spPr>
          <a:xfrm flipH="1" rot="5400000">
            <a:off x="706650" y="-706217"/>
            <a:ext cx="6466500" cy="78792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2580000" dist="152400">
              <a:schemeClr val="dk1">
                <a:alpha val="980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04" name="Google Shape;304;h2c73c3ada47f7cb8_1_2133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05" name="Google Shape;305;h2c73c3ada47f7cb8_1_2133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06" name="Google Shape;306;h2c73c3ada47f7cb8_1_2133"/>
          <p:cNvSpPr txBox="1"/>
          <p:nvPr>
            <p:ph idx="3" type="title"/>
          </p:nvPr>
        </p:nvSpPr>
        <p:spPr>
          <a:xfrm>
            <a:off x="8302767" y="2959044"/>
            <a:ext cx="3364800" cy="15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Manrope Light"/>
              <a:buNone/>
              <a:defRPr sz="96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07" name="Google Shape;307;h2c73c3ada47f7cb8_1_2133"/>
          <p:cNvSpPr txBox="1"/>
          <p:nvPr>
            <p:ph idx="4" type="body"/>
          </p:nvPr>
        </p:nvSpPr>
        <p:spPr>
          <a:xfrm>
            <a:off x="377967" y="2526600"/>
            <a:ext cx="3816000" cy="31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th point">
  <p:cSld name="CUSTOM_7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2c73c3ada47f7cb8_1_2140"/>
          <p:cNvSpPr/>
          <p:nvPr>
            <p:ph idx="2" type="pic"/>
          </p:nvPr>
        </p:nvSpPr>
        <p:spPr>
          <a:xfrm rot="-5400000">
            <a:off x="8734617" y="3004350"/>
            <a:ext cx="2725200" cy="4198500"/>
          </a:xfrm>
          <a:prstGeom prst="round2SameRect">
            <a:avLst>
              <a:gd fmla="val 1685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10" name="Google Shape;310;h2c73c3ada47f7cb8_1_2140"/>
          <p:cNvSpPr/>
          <p:nvPr/>
        </p:nvSpPr>
        <p:spPr>
          <a:xfrm flipH="1" rot="5400000">
            <a:off x="706650" y="-706217"/>
            <a:ext cx="6466500" cy="78792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2580000" dist="152400">
              <a:schemeClr val="dk1">
                <a:alpha val="980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11" name="Google Shape;311;h2c73c3ada47f7cb8_1_2140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12" name="Google Shape;312;h2c73c3ada47f7cb8_1_2140"/>
          <p:cNvSpPr txBox="1"/>
          <p:nvPr>
            <p:ph type="title"/>
          </p:nvPr>
        </p:nvSpPr>
        <p:spPr>
          <a:xfrm>
            <a:off x="377967" y="852967"/>
            <a:ext cx="5718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13" name="Google Shape;313;h2c73c3ada47f7cb8_1_2140"/>
          <p:cNvSpPr txBox="1"/>
          <p:nvPr>
            <p:ph idx="3" type="title"/>
          </p:nvPr>
        </p:nvSpPr>
        <p:spPr>
          <a:xfrm>
            <a:off x="8302767" y="3738577"/>
            <a:ext cx="3364800" cy="15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Manrope Light"/>
              <a:buNone/>
              <a:defRPr sz="96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14" name="Google Shape;314;h2c73c3ada47f7cb8_1_2140"/>
          <p:cNvSpPr txBox="1"/>
          <p:nvPr>
            <p:ph idx="4" type="body"/>
          </p:nvPr>
        </p:nvSpPr>
        <p:spPr>
          <a:xfrm>
            <a:off x="377967" y="2526600"/>
            <a:ext cx="3816000" cy="31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1">
  <p:cSld name="BLANK_1_1_1_1_1_1_1_1_1_1_1_1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2c73c3ada47f7cb8_1_2147"/>
          <p:cNvSpPr txBox="1"/>
          <p:nvPr>
            <p:ph idx="1" type="subTitle"/>
          </p:nvPr>
        </p:nvSpPr>
        <p:spPr>
          <a:xfrm>
            <a:off x="4964867" y="2706800"/>
            <a:ext cx="32061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17" name="Google Shape;317;h2c73c3ada47f7cb8_1_2147"/>
          <p:cNvSpPr txBox="1"/>
          <p:nvPr>
            <p:ph idx="2" type="subTitle"/>
          </p:nvPr>
        </p:nvSpPr>
        <p:spPr>
          <a:xfrm>
            <a:off x="8511433" y="2706800"/>
            <a:ext cx="33756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18" name="Google Shape;318;h2c73c3ada47f7cb8_1_2147"/>
          <p:cNvSpPr txBox="1"/>
          <p:nvPr>
            <p:ph idx="3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19" name="Google Shape;319;h2c73c3ada47f7cb8_1_2147"/>
          <p:cNvSpPr txBox="1"/>
          <p:nvPr>
            <p:ph type="title"/>
          </p:nvPr>
        </p:nvSpPr>
        <p:spPr>
          <a:xfrm>
            <a:off x="377967" y="852967"/>
            <a:ext cx="75129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20" name="Google Shape;320;h2c73c3ada47f7cb8_1_2147"/>
          <p:cNvSpPr txBox="1"/>
          <p:nvPr>
            <p:ph idx="4" type="body"/>
          </p:nvPr>
        </p:nvSpPr>
        <p:spPr>
          <a:xfrm>
            <a:off x="634000" y="2706800"/>
            <a:ext cx="3560100" cy="31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9pPr>
          </a:lstStyle>
          <a:p/>
        </p:txBody>
      </p:sp>
      <p:sp>
        <p:nvSpPr>
          <p:cNvPr id="321" name="Google Shape;321;h2c73c3ada47f7cb8_1_2147"/>
          <p:cNvSpPr txBox="1"/>
          <p:nvPr>
            <p:ph idx="5" type="body"/>
          </p:nvPr>
        </p:nvSpPr>
        <p:spPr>
          <a:xfrm>
            <a:off x="4964867" y="3133967"/>
            <a:ext cx="3302400" cy="31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9pPr>
          </a:lstStyle>
          <a:p/>
        </p:txBody>
      </p:sp>
      <p:sp>
        <p:nvSpPr>
          <p:cNvPr id="322" name="Google Shape;322;h2c73c3ada47f7cb8_1_2147"/>
          <p:cNvSpPr txBox="1"/>
          <p:nvPr>
            <p:ph idx="6" type="body"/>
          </p:nvPr>
        </p:nvSpPr>
        <p:spPr>
          <a:xfrm>
            <a:off x="8511433" y="3133967"/>
            <a:ext cx="3302400" cy="31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/ images">
  <p:cSld name="BLANK_1_1_1_1_1_1_1_1_1_1_1_1_1_1_3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2c73c3ada47f7cb8_1_2155"/>
          <p:cNvSpPr txBox="1"/>
          <p:nvPr>
            <p:ph idx="1" type="subTitle"/>
          </p:nvPr>
        </p:nvSpPr>
        <p:spPr>
          <a:xfrm>
            <a:off x="4964867" y="5287510"/>
            <a:ext cx="32061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25" name="Google Shape;325;h2c73c3ada47f7cb8_1_2155"/>
          <p:cNvSpPr txBox="1"/>
          <p:nvPr>
            <p:ph idx="2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26" name="Google Shape;326;h2c73c3ada47f7cb8_1_2155"/>
          <p:cNvSpPr txBox="1"/>
          <p:nvPr>
            <p:ph type="title"/>
          </p:nvPr>
        </p:nvSpPr>
        <p:spPr>
          <a:xfrm>
            <a:off x="377967" y="852967"/>
            <a:ext cx="75129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27" name="Google Shape;327;h2c73c3ada47f7cb8_1_2155"/>
          <p:cNvSpPr txBox="1"/>
          <p:nvPr>
            <p:ph idx="3" type="body"/>
          </p:nvPr>
        </p:nvSpPr>
        <p:spPr>
          <a:xfrm>
            <a:off x="634000" y="2706800"/>
            <a:ext cx="3560100" cy="31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9pPr>
          </a:lstStyle>
          <a:p/>
        </p:txBody>
      </p:sp>
      <p:sp>
        <p:nvSpPr>
          <p:cNvPr id="328" name="Google Shape;328;h2c73c3ada47f7cb8_1_2155"/>
          <p:cNvSpPr txBox="1"/>
          <p:nvPr>
            <p:ph idx="4" type="body"/>
          </p:nvPr>
        </p:nvSpPr>
        <p:spPr>
          <a:xfrm>
            <a:off x="4964867" y="5683800"/>
            <a:ext cx="33024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9pPr>
          </a:lstStyle>
          <a:p/>
        </p:txBody>
      </p:sp>
      <p:sp>
        <p:nvSpPr>
          <p:cNvPr id="329" name="Google Shape;329;h2c73c3ada47f7cb8_1_2155"/>
          <p:cNvSpPr/>
          <p:nvPr>
            <p:ph idx="5" type="pic"/>
          </p:nvPr>
        </p:nvSpPr>
        <p:spPr>
          <a:xfrm>
            <a:off x="4986567" y="2753900"/>
            <a:ext cx="3269100" cy="214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h2c73c3ada47f7cb8_1_2155"/>
          <p:cNvSpPr txBox="1"/>
          <p:nvPr>
            <p:ph idx="6" type="subTitle"/>
          </p:nvPr>
        </p:nvSpPr>
        <p:spPr>
          <a:xfrm>
            <a:off x="8511633" y="5287510"/>
            <a:ext cx="32061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31" name="Google Shape;331;h2c73c3ada47f7cb8_1_2155"/>
          <p:cNvSpPr txBox="1"/>
          <p:nvPr>
            <p:ph idx="7" type="body"/>
          </p:nvPr>
        </p:nvSpPr>
        <p:spPr>
          <a:xfrm>
            <a:off x="8511633" y="5683809"/>
            <a:ext cx="33024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9pPr>
          </a:lstStyle>
          <a:p/>
        </p:txBody>
      </p:sp>
      <p:sp>
        <p:nvSpPr>
          <p:cNvPr id="332" name="Google Shape;332;h2c73c3ada47f7cb8_1_2155"/>
          <p:cNvSpPr/>
          <p:nvPr>
            <p:ph idx="8" type="pic"/>
          </p:nvPr>
        </p:nvSpPr>
        <p:spPr>
          <a:xfrm>
            <a:off x="8533333" y="2753900"/>
            <a:ext cx="3269100" cy="214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/ images - ALT 1">
  <p:cSld name="BLANK_1_1_1_1_1_1_1_1_1_1_1_1_1_1_2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2c73c3ada47f7cb8_1_2165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35" name="Google Shape;335;h2c73c3ada47f7cb8_1_2165"/>
          <p:cNvSpPr txBox="1"/>
          <p:nvPr>
            <p:ph type="title"/>
          </p:nvPr>
        </p:nvSpPr>
        <p:spPr>
          <a:xfrm>
            <a:off x="377967" y="852962"/>
            <a:ext cx="8510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36" name="Google Shape;336;h2c73c3ada47f7cb8_1_2165"/>
          <p:cNvSpPr txBox="1"/>
          <p:nvPr>
            <p:ph idx="2" type="body"/>
          </p:nvPr>
        </p:nvSpPr>
        <p:spPr>
          <a:xfrm>
            <a:off x="634000" y="2706800"/>
            <a:ext cx="3560100" cy="31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■"/>
              <a:defRPr sz="1300"/>
            </a:lvl9pPr>
          </a:lstStyle>
          <a:p/>
        </p:txBody>
      </p:sp>
      <p:sp>
        <p:nvSpPr>
          <p:cNvPr id="337" name="Google Shape;337;h2c73c3ada47f7cb8_1_2165"/>
          <p:cNvSpPr/>
          <p:nvPr>
            <p:ph idx="3" type="pic"/>
          </p:nvPr>
        </p:nvSpPr>
        <p:spPr>
          <a:xfrm>
            <a:off x="4988533" y="2706200"/>
            <a:ext cx="1107600" cy="170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8" name="Google Shape;338;h2c73c3ada47f7cb8_1_2165"/>
          <p:cNvSpPr txBox="1"/>
          <p:nvPr>
            <p:ph idx="4" type="subTitle"/>
          </p:nvPr>
        </p:nvSpPr>
        <p:spPr>
          <a:xfrm>
            <a:off x="6217933" y="2966232"/>
            <a:ext cx="4313700" cy="90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39" name="Google Shape;339;h2c73c3ada47f7cb8_1_2165"/>
          <p:cNvSpPr txBox="1"/>
          <p:nvPr>
            <p:ph idx="5" type="subTitle"/>
          </p:nvPr>
        </p:nvSpPr>
        <p:spPr>
          <a:xfrm>
            <a:off x="6217933" y="3984267"/>
            <a:ext cx="4313700" cy="3171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40" name="Google Shape;340;h2c73c3ada47f7cb8_1_2165"/>
          <p:cNvSpPr/>
          <p:nvPr>
            <p:ph idx="6" type="pic"/>
          </p:nvPr>
        </p:nvSpPr>
        <p:spPr>
          <a:xfrm>
            <a:off x="4988533" y="4772767"/>
            <a:ext cx="1107600" cy="170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1" name="Google Shape;341;h2c73c3ada47f7cb8_1_2165"/>
          <p:cNvSpPr txBox="1"/>
          <p:nvPr>
            <p:ph idx="7" type="subTitle"/>
          </p:nvPr>
        </p:nvSpPr>
        <p:spPr>
          <a:xfrm>
            <a:off x="6217933" y="5032799"/>
            <a:ext cx="4313700" cy="90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42" name="Google Shape;342;h2c73c3ada47f7cb8_1_2165"/>
          <p:cNvSpPr txBox="1"/>
          <p:nvPr>
            <p:ph idx="8" type="subTitle"/>
          </p:nvPr>
        </p:nvSpPr>
        <p:spPr>
          <a:xfrm>
            <a:off x="6217933" y="6050833"/>
            <a:ext cx="4313700" cy="3171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 Light"/>
              <a:buNone/>
              <a:defRPr sz="16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texture (Provided by Getty Images)" id="344" name="Google Shape;344;h2c73c3ada47f7cb8_1_2175"/>
          <p:cNvPicPr preferRelativeResize="0"/>
          <p:nvPr/>
        </p:nvPicPr>
        <p:blipFill rotWithShape="1">
          <a:blip r:embed="rId2">
            <a:alphaModFix amt="43000"/>
          </a:blip>
          <a:srcRect b="39598" l="23975" r="45677" t="45068"/>
          <a:stretch/>
        </p:blipFill>
        <p:spPr>
          <a:xfrm rot="-5400000">
            <a:off x="10732850" y="1627850"/>
            <a:ext cx="1661700" cy="126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45" name="Google Shape;345;h2c73c3ada47f7cb8_1_2175"/>
          <p:cNvSpPr/>
          <p:nvPr/>
        </p:nvSpPr>
        <p:spPr>
          <a:xfrm rot="5400000">
            <a:off x="2191600" y="-1971800"/>
            <a:ext cx="6419700" cy="10803300"/>
          </a:xfrm>
          <a:prstGeom prst="round1Rect">
            <a:avLst>
              <a:gd fmla="val 4842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2580000" dist="152400">
              <a:schemeClr val="dk1">
                <a:alpha val="980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descr="marble (Provided by Getty Images)" id="346" name="Google Shape;346;h2c73c3ada47f7cb8_1_2175"/>
          <p:cNvPicPr preferRelativeResize="0"/>
          <p:nvPr/>
        </p:nvPicPr>
        <p:blipFill rotWithShape="1">
          <a:blip r:embed="rId3">
            <a:alphaModFix/>
          </a:blip>
          <a:srcRect b="75852" l="26764" r="46015" t="4842"/>
          <a:stretch/>
        </p:blipFill>
        <p:spPr>
          <a:xfrm rot="10800000">
            <a:off x="10933500" y="-1933"/>
            <a:ext cx="1258500" cy="1348800"/>
          </a:xfrm>
          <a:prstGeom prst="round1Rect">
            <a:avLst>
              <a:gd fmla="val 15319" name="adj"/>
            </a:avLst>
          </a:prstGeom>
          <a:noFill/>
          <a:ln>
            <a:noFill/>
          </a:ln>
        </p:spPr>
      </p:pic>
      <p:pic>
        <p:nvPicPr>
          <p:cNvPr descr="Marble texture (Provided by Getty Images)" id="347" name="Google Shape;347;h2c73c3ada47f7cb8_1_2175"/>
          <p:cNvPicPr preferRelativeResize="0"/>
          <p:nvPr/>
        </p:nvPicPr>
        <p:blipFill rotWithShape="1">
          <a:blip r:embed="rId4">
            <a:alphaModFix amt="62000"/>
          </a:blip>
          <a:srcRect b="16416" l="33342" r="31410" t="63092"/>
          <a:stretch/>
        </p:blipFill>
        <p:spPr>
          <a:xfrm rot="-5400000">
            <a:off x="10721150" y="3391417"/>
            <a:ext cx="1689900" cy="12648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Marble texture (Provided by Getty Images)" id="348" name="Google Shape;348;h2c73c3ada47f7cb8_1_2175"/>
          <p:cNvPicPr preferRelativeResize="0"/>
          <p:nvPr/>
        </p:nvPicPr>
        <p:blipFill rotWithShape="1">
          <a:blip r:embed="rId4">
            <a:alphaModFix amt="62000"/>
          </a:blip>
          <a:srcRect b="33123" l="23874" r="40904" t="46490"/>
          <a:stretch/>
        </p:blipFill>
        <p:spPr>
          <a:xfrm rot="-5400000">
            <a:off x="10718600" y="5166700"/>
            <a:ext cx="1688700" cy="12585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49" name="Google Shape;349;h2c73c3ada47f7cb8_1_2175"/>
          <p:cNvSpPr txBox="1"/>
          <p:nvPr>
            <p:ph idx="1" type="body"/>
          </p:nvPr>
        </p:nvSpPr>
        <p:spPr>
          <a:xfrm>
            <a:off x="896300" y="2689133"/>
            <a:ext cx="38955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50" name="Google Shape;350;h2c73c3ada47f7cb8_1_2175"/>
          <p:cNvSpPr txBox="1"/>
          <p:nvPr>
            <p:ph idx="2" type="subTitle"/>
          </p:nvPr>
        </p:nvSpPr>
        <p:spPr>
          <a:xfrm>
            <a:off x="896300" y="2255365"/>
            <a:ext cx="3895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51" name="Google Shape;351;h2c73c3ada47f7cb8_1_2175"/>
          <p:cNvSpPr txBox="1"/>
          <p:nvPr>
            <p:ph idx="3" type="body"/>
          </p:nvPr>
        </p:nvSpPr>
        <p:spPr>
          <a:xfrm>
            <a:off x="896300" y="4534163"/>
            <a:ext cx="38955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52" name="Google Shape;352;h2c73c3ada47f7cb8_1_2175"/>
          <p:cNvSpPr txBox="1"/>
          <p:nvPr>
            <p:ph idx="4" type="subTitle"/>
          </p:nvPr>
        </p:nvSpPr>
        <p:spPr>
          <a:xfrm>
            <a:off x="896300" y="4100389"/>
            <a:ext cx="3895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53" name="Google Shape;353;h2c73c3ada47f7cb8_1_2175"/>
          <p:cNvSpPr txBox="1"/>
          <p:nvPr>
            <p:ph idx="5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54" name="Google Shape;354;h2c73c3ada47f7cb8_1_2175"/>
          <p:cNvSpPr txBox="1"/>
          <p:nvPr>
            <p:ph type="title"/>
          </p:nvPr>
        </p:nvSpPr>
        <p:spPr>
          <a:xfrm>
            <a:off x="377967" y="852962"/>
            <a:ext cx="8510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55" name="Google Shape;355;h2c73c3ada47f7cb8_1_2175"/>
          <p:cNvSpPr txBox="1"/>
          <p:nvPr>
            <p:ph idx="6" type="subTitle"/>
          </p:nvPr>
        </p:nvSpPr>
        <p:spPr>
          <a:xfrm>
            <a:off x="378000" y="2255367"/>
            <a:ext cx="489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56" name="Google Shape;356;h2c73c3ada47f7cb8_1_2175"/>
          <p:cNvSpPr txBox="1"/>
          <p:nvPr>
            <p:ph idx="7" type="subTitle"/>
          </p:nvPr>
        </p:nvSpPr>
        <p:spPr>
          <a:xfrm>
            <a:off x="378000" y="4100400"/>
            <a:ext cx="489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57" name="Google Shape;357;h2c73c3ada47f7cb8_1_2175"/>
          <p:cNvSpPr txBox="1"/>
          <p:nvPr>
            <p:ph idx="8" type="body"/>
          </p:nvPr>
        </p:nvSpPr>
        <p:spPr>
          <a:xfrm>
            <a:off x="5919800" y="2689133"/>
            <a:ext cx="38955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58" name="Google Shape;358;h2c73c3ada47f7cb8_1_2175"/>
          <p:cNvSpPr txBox="1"/>
          <p:nvPr>
            <p:ph idx="9" type="subTitle"/>
          </p:nvPr>
        </p:nvSpPr>
        <p:spPr>
          <a:xfrm>
            <a:off x="5919800" y="2255365"/>
            <a:ext cx="3895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59" name="Google Shape;359;h2c73c3ada47f7cb8_1_2175"/>
          <p:cNvSpPr txBox="1"/>
          <p:nvPr>
            <p:ph idx="13" type="body"/>
          </p:nvPr>
        </p:nvSpPr>
        <p:spPr>
          <a:xfrm>
            <a:off x="5919800" y="4534163"/>
            <a:ext cx="38955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60" name="Google Shape;360;h2c73c3ada47f7cb8_1_2175"/>
          <p:cNvSpPr txBox="1"/>
          <p:nvPr>
            <p:ph idx="14" type="subTitle"/>
          </p:nvPr>
        </p:nvSpPr>
        <p:spPr>
          <a:xfrm>
            <a:off x="5919800" y="4100389"/>
            <a:ext cx="38955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b="1"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61" name="Google Shape;361;h2c73c3ada47f7cb8_1_2175"/>
          <p:cNvSpPr txBox="1"/>
          <p:nvPr>
            <p:ph idx="15" type="subTitle"/>
          </p:nvPr>
        </p:nvSpPr>
        <p:spPr>
          <a:xfrm>
            <a:off x="5401500" y="2255367"/>
            <a:ext cx="489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62" name="Google Shape;362;h2c73c3ada47f7cb8_1_2175"/>
          <p:cNvSpPr txBox="1"/>
          <p:nvPr>
            <p:ph idx="16" type="subTitle"/>
          </p:nvPr>
        </p:nvSpPr>
        <p:spPr>
          <a:xfrm>
            <a:off x="5401500" y="4100400"/>
            <a:ext cx="489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ctives ">
  <p:cSld name="CUSTOM_2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2c73c3ada47f7cb8_1_2195"/>
          <p:cNvSpPr txBox="1"/>
          <p:nvPr>
            <p:ph idx="1" type="subTitle"/>
          </p:nvPr>
        </p:nvSpPr>
        <p:spPr>
          <a:xfrm>
            <a:off x="838100" y="2286000"/>
            <a:ext cx="3161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65" name="Google Shape;365;h2c73c3ada47f7cb8_1_2195"/>
          <p:cNvSpPr txBox="1"/>
          <p:nvPr>
            <p:ph idx="2" type="subTitle"/>
          </p:nvPr>
        </p:nvSpPr>
        <p:spPr>
          <a:xfrm>
            <a:off x="4515400" y="2286000"/>
            <a:ext cx="3161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66" name="Google Shape;366;h2c73c3ada47f7cb8_1_2195"/>
          <p:cNvSpPr txBox="1"/>
          <p:nvPr>
            <p:ph idx="3" type="subTitle"/>
          </p:nvPr>
        </p:nvSpPr>
        <p:spPr>
          <a:xfrm>
            <a:off x="8179351" y="2286000"/>
            <a:ext cx="3161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67" name="Google Shape;367;h2c73c3ada47f7cb8_1_2195"/>
          <p:cNvSpPr txBox="1"/>
          <p:nvPr>
            <p:ph idx="4" type="body"/>
          </p:nvPr>
        </p:nvSpPr>
        <p:spPr>
          <a:xfrm>
            <a:off x="838100" y="4143625"/>
            <a:ext cx="3161100" cy="10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h2c73c3ada47f7cb8_1_2195"/>
          <p:cNvSpPr txBox="1"/>
          <p:nvPr>
            <p:ph idx="5" type="body"/>
          </p:nvPr>
        </p:nvSpPr>
        <p:spPr>
          <a:xfrm>
            <a:off x="4515406" y="4143567"/>
            <a:ext cx="3161100" cy="10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9" name="Google Shape;369;h2c73c3ada47f7cb8_1_2195"/>
          <p:cNvSpPr txBox="1"/>
          <p:nvPr>
            <p:ph idx="6" type="body"/>
          </p:nvPr>
        </p:nvSpPr>
        <p:spPr>
          <a:xfrm>
            <a:off x="8179362" y="4143625"/>
            <a:ext cx="3161100" cy="10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0" name="Google Shape;370;h2c73c3ada47f7cb8_1_2195"/>
          <p:cNvSpPr/>
          <p:nvPr/>
        </p:nvSpPr>
        <p:spPr>
          <a:xfrm>
            <a:off x="838100" y="5411333"/>
            <a:ext cx="944400" cy="317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1" name="Google Shape;371;h2c73c3ada47f7cb8_1_2195"/>
          <p:cNvSpPr/>
          <p:nvPr/>
        </p:nvSpPr>
        <p:spPr>
          <a:xfrm>
            <a:off x="3065334" y="5411333"/>
            <a:ext cx="944400" cy="317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2" name="Google Shape;372;h2c73c3ada47f7cb8_1_2195"/>
          <p:cNvSpPr txBox="1"/>
          <p:nvPr>
            <p:ph idx="7" type="subTitle"/>
          </p:nvPr>
        </p:nvSpPr>
        <p:spPr>
          <a:xfrm>
            <a:off x="932133" y="5453333"/>
            <a:ext cx="7821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73" name="Google Shape;373;h2c73c3ada47f7cb8_1_2195"/>
          <p:cNvSpPr txBox="1"/>
          <p:nvPr>
            <p:ph idx="8" type="subTitle"/>
          </p:nvPr>
        </p:nvSpPr>
        <p:spPr>
          <a:xfrm>
            <a:off x="3146533" y="5453333"/>
            <a:ext cx="7821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74" name="Google Shape;374;h2c73c3ada47f7cb8_1_2195"/>
          <p:cNvSpPr/>
          <p:nvPr/>
        </p:nvSpPr>
        <p:spPr>
          <a:xfrm>
            <a:off x="4508717" y="5411333"/>
            <a:ext cx="944400" cy="317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5" name="Google Shape;375;h2c73c3ada47f7cb8_1_2195"/>
          <p:cNvSpPr/>
          <p:nvPr/>
        </p:nvSpPr>
        <p:spPr>
          <a:xfrm>
            <a:off x="6738884" y="5411333"/>
            <a:ext cx="944400" cy="317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6" name="Google Shape;376;h2c73c3ada47f7cb8_1_2195"/>
          <p:cNvSpPr txBox="1"/>
          <p:nvPr>
            <p:ph idx="9" type="subTitle"/>
          </p:nvPr>
        </p:nvSpPr>
        <p:spPr>
          <a:xfrm>
            <a:off x="4602750" y="5453333"/>
            <a:ext cx="7821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77" name="Google Shape;377;h2c73c3ada47f7cb8_1_2195"/>
          <p:cNvSpPr txBox="1"/>
          <p:nvPr>
            <p:ph idx="13" type="subTitle"/>
          </p:nvPr>
        </p:nvSpPr>
        <p:spPr>
          <a:xfrm>
            <a:off x="6820083" y="5453333"/>
            <a:ext cx="7821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78" name="Google Shape;378;h2c73c3ada47f7cb8_1_2195"/>
          <p:cNvSpPr/>
          <p:nvPr/>
        </p:nvSpPr>
        <p:spPr>
          <a:xfrm>
            <a:off x="8179351" y="5411333"/>
            <a:ext cx="944400" cy="317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9" name="Google Shape;379;h2c73c3ada47f7cb8_1_2195"/>
          <p:cNvSpPr/>
          <p:nvPr/>
        </p:nvSpPr>
        <p:spPr>
          <a:xfrm>
            <a:off x="10412417" y="5411333"/>
            <a:ext cx="944400" cy="317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80" name="Google Shape;380;h2c73c3ada47f7cb8_1_2195"/>
          <p:cNvSpPr txBox="1"/>
          <p:nvPr>
            <p:ph idx="14" type="subTitle"/>
          </p:nvPr>
        </p:nvSpPr>
        <p:spPr>
          <a:xfrm>
            <a:off x="8273383" y="5453333"/>
            <a:ext cx="7821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81" name="Google Shape;381;h2c73c3ada47f7cb8_1_2195"/>
          <p:cNvSpPr txBox="1"/>
          <p:nvPr>
            <p:ph idx="15" type="subTitle"/>
          </p:nvPr>
        </p:nvSpPr>
        <p:spPr>
          <a:xfrm>
            <a:off x="10493617" y="5453333"/>
            <a:ext cx="7821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82" name="Google Shape;382;h2c73c3ada47f7cb8_1_2195"/>
          <p:cNvSpPr txBox="1"/>
          <p:nvPr>
            <p:ph idx="16" type="subTitle"/>
          </p:nvPr>
        </p:nvSpPr>
        <p:spPr>
          <a:xfrm>
            <a:off x="866100" y="5964433"/>
            <a:ext cx="944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h2c73c3ada47f7cb8_1_2195"/>
          <p:cNvSpPr txBox="1"/>
          <p:nvPr>
            <p:ph idx="17" type="subTitle"/>
          </p:nvPr>
        </p:nvSpPr>
        <p:spPr>
          <a:xfrm>
            <a:off x="3065333" y="5964433"/>
            <a:ext cx="944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4" name="Google Shape;384;h2c73c3ada47f7cb8_1_2195"/>
          <p:cNvSpPr txBox="1"/>
          <p:nvPr>
            <p:ph idx="18" type="subTitle"/>
          </p:nvPr>
        </p:nvSpPr>
        <p:spPr>
          <a:xfrm>
            <a:off x="4511067" y="5964433"/>
            <a:ext cx="944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5" name="Google Shape;385;h2c73c3ada47f7cb8_1_2195"/>
          <p:cNvSpPr txBox="1"/>
          <p:nvPr>
            <p:ph idx="19" type="subTitle"/>
          </p:nvPr>
        </p:nvSpPr>
        <p:spPr>
          <a:xfrm>
            <a:off x="6736533" y="5964433"/>
            <a:ext cx="944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6" name="Google Shape;386;h2c73c3ada47f7cb8_1_2195"/>
          <p:cNvSpPr txBox="1"/>
          <p:nvPr>
            <p:ph idx="20" type="subTitle"/>
          </p:nvPr>
        </p:nvSpPr>
        <p:spPr>
          <a:xfrm>
            <a:off x="8179367" y="5964433"/>
            <a:ext cx="944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h2c73c3ada47f7cb8_1_2195"/>
          <p:cNvSpPr txBox="1"/>
          <p:nvPr>
            <p:ph idx="21" type="subTitle"/>
          </p:nvPr>
        </p:nvSpPr>
        <p:spPr>
          <a:xfrm>
            <a:off x="10407733" y="5964433"/>
            <a:ext cx="944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8" name="Google Shape;388;h2c73c3ada47f7cb8_1_2195"/>
          <p:cNvSpPr txBox="1"/>
          <p:nvPr>
            <p:ph idx="22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89" name="Google Shape;389;h2c73c3ada47f7cb8_1_2195"/>
          <p:cNvSpPr txBox="1"/>
          <p:nvPr>
            <p:ph type="title"/>
          </p:nvPr>
        </p:nvSpPr>
        <p:spPr>
          <a:xfrm>
            <a:off x="377967" y="852962"/>
            <a:ext cx="8510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ctives with images">
  <p:cSld name="CUSTOM_5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2c73c3ada47f7cb8_1_2222"/>
          <p:cNvSpPr/>
          <p:nvPr>
            <p:ph idx="2" type="pic"/>
          </p:nvPr>
        </p:nvSpPr>
        <p:spPr>
          <a:xfrm>
            <a:off x="636667" y="2354633"/>
            <a:ext cx="3557100" cy="189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2" name="Google Shape;392;h2c73c3ada47f7cb8_1_2222"/>
          <p:cNvSpPr/>
          <p:nvPr>
            <p:ph idx="3" type="pic"/>
          </p:nvPr>
        </p:nvSpPr>
        <p:spPr>
          <a:xfrm>
            <a:off x="4317400" y="2354633"/>
            <a:ext cx="3557100" cy="189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3" name="Google Shape;393;h2c73c3ada47f7cb8_1_2222"/>
          <p:cNvSpPr/>
          <p:nvPr>
            <p:ph idx="4" type="pic"/>
          </p:nvPr>
        </p:nvSpPr>
        <p:spPr>
          <a:xfrm>
            <a:off x="7998133" y="2354633"/>
            <a:ext cx="3557100" cy="189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h2c73c3ada47f7cb8_1_2222"/>
          <p:cNvSpPr txBox="1"/>
          <p:nvPr>
            <p:ph idx="1" type="subTitle"/>
          </p:nvPr>
        </p:nvSpPr>
        <p:spPr>
          <a:xfrm>
            <a:off x="636667" y="4668800"/>
            <a:ext cx="3546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95" name="Google Shape;395;h2c73c3ada47f7cb8_1_2222"/>
          <p:cNvSpPr txBox="1"/>
          <p:nvPr>
            <p:ph idx="5" type="subTitle"/>
          </p:nvPr>
        </p:nvSpPr>
        <p:spPr>
          <a:xfrm>
            <a:off x="4322800" y="4668800"/>
            <a:ext cx="3546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96" name="Google Shape;396;h2c73c3ada47f7cb8_1_2222"/>
          <p:cNvSpPr txBox="1"/>
          <p:nvPr>
            <p:ph idx="6" type="subTitle"/>
          </p:nvPr>
        </p:nvSpPr>
        <p:spPr>
          <a:xfrm>
            <a:off x="7997767" y="4668800"/>
            <a:ext cx="3546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97" name="Google Shape;397;h2c73c3ada47f7cb8_1_2222"/>
          <p:cNvSpPr txBox="1"/>
          <p:nvPr>
            <p:ph idx="7" type="body"/>
          </p:nvPr>
        </p:nvSpPr>
        <p:spPr>
          <a:xfrm>
            <a:off x="636667" y="5113433"/>
            <a:ext cx="35463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98" name="Google Shape;398;h2c73c3ada47f7cb8_1_2222"/>
          <p:cNvSpPr txBox="1"/>
          <p:nvPr>
            <p:ph idx="8" type="body"/>
          </p:nvPr>
        </p:nvSpPr>
        <p:spPr>
          <a:xfrm>
            <a:off x="4322800" y="5113433"/>
            <a:ext cx="35463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99" name="Google Shape;399;h2c73c3ada47f7cb8_1_2222"/>
          <p:cNvSpPr txBox="1"/>
          <p:nvPr>
            <p:ph idx="9" type="body"/>
          </p:nvPr>
        </p:nvSpPr>
        <p:spPr>
          <a:xfrm>
            <a:off x="7997767" y="5113433"/>
            <a:ext cx="35463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00" name="Google Shape;400;h2c73c3ada47f7cb8_1_2222"/>
          <p:cNvSpPr txBox="1"/>
          <p:nvPr>
            <p:ph idx="13" type="subTitle"/>
          </p:nvPr>
        </p:nvSpPr>
        <p:spPr>
          <a:xfrm>
            <a:off x="636667" y="4342967"/>
            <a:ext cx="9273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01" name="Google Shape;401;h2c73c3ada47f7cb8_1_2222"/>
          <p:cNvSpPr txBox="1"/>
          <p:nvPr>
            <p:ph idx="14" type="subTitle"/>
          </p:nvPr>
        </p:nvSpPr>
        <p:spPr>
          <a:xfrm>
            <a:off x="4322800" y="4342967"/>
            <a:ext cx="9273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02" name="Google Shape;402;h2c73c3ada47f7cb8_1_2222"/>
          <p:cNvSpPr txBox="1"/>
          <p:nvPr>
            <p:ph idx="15" type="subTitle"/>
          </p:nvPr>
        </p:nvSpPr>
        <p:spPr>
          <a:xfrm>
            <a:off x="7997767" y="4342967"/>
            <a:ext cx="9273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03" name="Google Shape;403;h2c73c3ada47f7cb8_1_2222"/>
          <p:cNvSpPr txBox="1"/>
          <p:nvPr>
            <p:ph type="title"/>
          </p:nvPr>
        </p:nvSpPr>
        <p:spPr>
          <a:xfrm>
            <a:off x="377967" y="852962"/>
            <a:ext cx="85101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04" name="Google Shape;404;h2c73c3ada47f7cb8_1_2222"/>
          <p:cNvSpPr txBox="1"/>
          <p:nvPr>
            <p:ph idx="16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8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h2c73c3ada47f7cb8_1_2237"/>
          <p:cNvSpPr/>
          <p:nvPr>
            <p:ph idx="2" type="pic"/>
          </p:nvPr>
        </p:nvSpPr>
        <p:spPr>
          <a:xfrm rot="-5400000">
            <a:off x="7089750" y="1762450"/>
            <a:ext cx="6655200" cy="3549300"/>
          </a:xfrm>
          <a:prstGeom prst="round1Rect">
            <a:avLst>
              <a:gd fmla="val 16607" name="adj"/>
            </a:avLst>
          </a:prstGeom>
          <a:noFill/>
          <a:ln>
            <a:noFill/>
          </a:ln>
        </p:spPr>
      </p:sp>
      <p:sp>
        <p:nvSpPr>
          <p:cNvPr id="407" name="Google Shape;407;h2c73c3ada47f7cb8_1_2237"/>
          <p:cNvSpPr/>
          <p:nvPr/>
        </p:nvSpPr>
        <p:spPr>
          <a:xfrm>
            <a:off x="377967" y="1438800"/>
            <a:ext cx="8061900" cy="5419200"/>
          </a:xfrm>
          <a:prstGeom prst="round2SameRect">
            <a:avLst>
              <a:gd fmla="val 7319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52400" rotWithShape="0" algn="bl" dir="10920000" dist="76200">
              <a:schemeClr val="dk1">
                <a:alpha val="8000"/>
              </a:scheme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408" name="Google Shape;408;h2c73c3ada47f7cb8_1_2237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409" name="Google Shape;409;h2c73c3ada47f7cb8_1_2237"/>
          <p:cNvSpPr txBox="1"/>
          <p:nvPr>
            <p:ph type="title"/>
          </p:nvPr>
        </p:nvSpPr>
        <p:spPr>
          <a:xfrm>
            <a:off x="844433" y="2384600"/>
            <a:ext cx="7031700" cy="76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410" name="Google Shape;410;h2c73c3ada47f7cb8_1_2237"/>
          <p:cNvSpPr txBox="1"/>
          <p:nvPr>
            <p:ph idx="3" type="subTitle"/>
          </p:nvPr>
        </p:nvSpPr>
        <p:spPr>
          <a:xfrm>
            <a:off x="844433" y="3357733"/>
            <a:ext cx="37791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11" name="Google Shape;411;h2c73c3ada47f7cb8_1_2237"/>
          <p:cNvSpPr/>
          <p:nvPr>
            <p:ph idx="4" type="pic"/>
          </p:nvPr>
        </p:nvSpPr>
        <p:spPr>
          <a:xfrm>
            <a:off x="844433" y="4654500"/>
            <a:ext cx="1701600" cy="12867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12" name="Google Shape;412;h2c73c3ada47f7cb8_1_2237"/>
          <p:cNvSpPr txBox="1"/>
          <p:nvPr>
            <p:ph idx="5" type="subTitle"/>
          </p:nvPr>
        </p:nvSpPr>
        <p:spPr>
          <a:xfrm>
            <a:off x="2750800" y="4828033"/>
            <a:ext cx="3467100" cy="447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Manrope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13" name="Google Shape;413;h2c73c3ada47f7cb8_1_2237"/>
          <p:cNvSpPr txBox="1"/>
          <p:nvPr>
            <p:ph idx="6" type="subTitle"/>
          </p:nvPr>
        </p:nvSpPr>
        <p:spPr>
          <a:xfrm>
            <a:off x="2750800" y="5303178"/>
            <a:ext cx="3467100" cy="44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h2c73c3ada47f7cb8_1_2246"/>
          <p:cNvSpPr txBox="1"/>
          <p:nvPr>
            <p:ph type="title"/>
          </p:nvPr>
        </p:nvSpPr>
        <p:spPr>
          <a:xfrm>
            <a:off x="952033" y="2352433"/>
            <a:ext cx="10287600" cy="166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2c73c3ada47f7cb8_1_224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418" name="Google Shape;418;h2c73c3ada47f7cb8_1_224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2c73c3ada47f7cb8_1_2251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2c73c3ada47f7cb8_1_225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3" name="Google Shape;423;h2c73c3ada47f7cb8_1_225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2c73c3ada47f7cb8_1_225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6" name="Google Shape;426;h2c73c3ada47f7cb8_1_225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7" name="Google Shape;427;h2c73c3ada47f7cb8_1_225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2c73c3ada47f7cb8_1_226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h2c73c3ada47f7cb8_1_2262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32" name="Google Shape;432;h2c73c3ada47f7cb8_1_2262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2c73c3ada47f7cb8_1_2265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2c73c3ada47f7cb8_1_226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37" name="Google Shape;437;h2c73c3ada47f7cb8_1_226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8" name="Google Shape;438;h2c73c3ada47f7cb8_1_226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2c73c3ada47f7cb8_1_227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2c73c3ada47f7cb8_1_227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43" name="Google Shape;443;h2c73c3ada47f7cb8_1_227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h2c73c3ada47f7cb8_1_2277"/>
          <p:cNvSpPr txBox="1"/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7" name="Google Shape;447;h2c73c3ada47f7cb8_1_2277"/>
          <p:cNvSpPr txBox="1"/>
          <p:nvPr>
            <p:ph idx="1" type="subTitle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48" name="Google Shape;448;h2c73c3ada47f7cb8_1_2277"/>
          <p:cNvSpPr txBox="1"/>
          <p:nvPr>
            <p:ph idx="2" type="subTitle"/>
          </p:nvPr>
        </p:nvSpPr>
        <p:spPr>
          <a:xfrm>
            <a:off x="5875533" y="1535607"/>
            <a:ext cx="58797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49" name="Google Shape;449;h2c73c3ada47f7cb8_1_2277"/>
          <p:cNvSpPr txBox="1"/>
          <p:nvPr>
            <p:ph idx="3" type="subTitle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50" name="Google Shape;450;h2c73c3ada47f7cb8_1_2277"/>
          <p:cNvSpPr txBox="1"/>
          <p:nvPr>
            <p:ph idx="4" type="subTitle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51" name="Google Shape;451;h2c73c3ada47f7cb8_1_2277"/>
          <p:cNvSpPr txBox="1"/>
          <p:nvPr>
            <p:ph idx="5" type="subTitle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52" name="Google Shape;452;h2c73c3ada47f7cb8_1_2277"/>
          <p:cNvSpPr txBox="1"/>
          <p:nvPr>
            <p:ph idx="6" type="subTitle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2c73c3ada47f7cb8_1_228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55" name="Google Shape;455;h2c73c3ada47f7cb8_1_2285"/>
          <p:cNvSpPr txBox="1"/>
          <p:nvPr>
            <p:ph idx="1" type="body"/>
          </p:nvPr>
        </p:nvSpPr>
        <p:spPr>
          <a:xfrm>
            <a:off x="415600" y="1536633"/>
            <a:ext cx="59652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6" name="Google Shape;456;h2c73c3ada47f7cb8_1_2285"/>
          <p:cNvSpPr/>
          <p:nvPr>
            <p:ph idx="2" type="pic"/>
          </p:nvPr>
        </p:nvSpPr>
        <p:spPr>
          <a:xfrm>
            <a:off x="6656032" y="1537033"/>
            <a:ext cx="5120400" cy="45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h2c73c3ada47f7cb8_1_2289"/>
          <p:cNvSpPr txBox="1"/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59" name="Google Shape;459;h2c73c3ada47f7cb8_1_2289"/>
          <p:cNvSpPr txBox="1"/>
          <p:nvPr>
            <p:ph idx="1" type="body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60" name="Google Shape;460;h2c73c3ada47f7cb8_1_2289"/>
          <p:cNvSpPr txBox="1"/>
          <p:nvPr>
            <p:ph idx="2" type="body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61" name="Google Shape;461;h2c73c3ada47f7cb8_1_2289"/>
          <p:cNvSpPr txBox="1"/>
          <p:nvPr>
            <p:ph idx="3" type="subTitle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62" name="Google Shape;462;h2c73c3ada47f7cb8_1_2289"/>
          <p:cNvSpPr txBox="1"/>
          <p:nvPr>
            <p:ph idx="4" type="subTitle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2c73c3ada47f7cb8_1_2295"/>
          <p:cNvSpPr txBox="1"/>
          <p:nvPr>
            <p:ph idx="1" type="body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65" name="Google Shape;465;h2c73c3ada47f7cb8_1_2295"/>
          <p:cNvSpPr txBox="1"/>
          <p:nvPr>
            <p:ph idx="2" type="body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66" name="Google Shape;466;h2c73c3ada47f7cb8_1_2295"/>
          <p:cNvSpPr txBox="1"/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67" name="Google Shape;467;h2c73c3ada47f7cb8_1_2295"/>
          <p:cNvSpPr txBox="1"/>
          <p:nvPr>
            <p:ph idx="3" type="subTitle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68" name="Google Shape;468;h2c73c3ada47f7cb8_1_2295"/>
          <p:cNvSpPr txBox="1"/>
          <p:nvPr>
            <p:ph idx="4" type="subTitle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69" name="Google Shape;469;h2c73c3ada47f7cb8_1_2295"/>
          <p:cNvSpPr txBox="1"/>
          <p:nvPr>
            <p:ph idx="5" type="subTitle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70" name="Google Shape;470;h2c73c3ada47f7cb8_1_2295"/>
          <p:cNvSpPr txBox="1"/>
          <p:nvPr>
            <p:ph idx="6" type="body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2c73c3ada47f7cb8_1_2303"/>
          <p:cNvSpPr txBox="1"/>
          <p:nvPr>
            <p:ph idx="1" type="body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3" name="Google Shape;473;h2c73c3ada47f7cb8_1_2303"/>
          <p:cNvSpPr txBox="1"/>
          <p:nvPr>
            <p:ph idx="2" type="body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4" name="Google Shape;474;h2c73c3ada47f7cb8_1_2303"/>
          <p:cNvSpPr txBox="1"/>
          <p:nvPr>
            <p:ph idx="3" type="body"/>
          </p:nvPr>
        </p:nvSpPr>
        <p:spPr>
          <a:xfrm>
            <a:off x="489000" y="4864767"/>
            <a:ext cx="5118000" cy="15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5" name="Google Shape;475;h2c73c3ada47f7cb8_1_2303"/>
          <p:cNvSpPr txBox="1"/>
          <p:nvPr>
            <p:ph idx="4" type="body"/>
          </p:nvPr>
        </p:nvSpPr>
        <p:spPr>
          <a:xfrm>
            <a:off x="6585000" y="4864767"/>
            <a:ext cx="5118000" cy="15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6" name="Google Shape;476;h2c73c3ada47f7cb8_1_2303"/>
          <p:cNvSpPr txBox="1"/>
          <p:nvPr>
            <p:ph type="title"/>
          </p:nvPr>
        </p:nvSpPr>
        <p:spPr>
          <a:xfrm>
            <a:off x="489000" y="600033"/>
            <a:ext cx="10912800" cy="10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77" name="Google Shape;477;h2c73c3ada47f7cb8_1_2303"/>
          <p:cNvSpPr txBox="1"/>
          <p:nvPr>
            <p:ph idx="5" type="subTitle"/>
          </p:nvPr>
        </p:nvSpPr>
        <p:spPr>
          <a:xfrm>
            <a:off x="489017" y="1703876"/>
            <a:ext cx="51180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78" name="Google Shape;478;h2c73c3ada47f7cb8_1_2303"/>
          <p:cNvSpPr txBox="1"/>
          <p:nvPr>
            <p:ph idx="6" type="subTitle"/>
          </p:nvPr>
        </p:nvSpPr>
        <p:spPr>
          <a:xfrm>
            <a:off x="6584983" y="1703876"/>
            <a:ext cx="51180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79" name="Google Shape;479;h2c73c3ada47f7cb8_1_2303"/>
          <p:cNvSpPr txBox="1"/>
          <p:nvPr>
            <p:ph idx="7" type="subTitle"/>
          </p:nvPr>
        </p:nvSpPr>
        <p:spPr>
          <a:xfrm>
            <a:off x="6585014" y="4223150"/>
            <a:ext cx="51180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80" name="Google Shape;480;h2c73c3ada47f7cb8_1_2303"/>
          <p:cNvSpPr txBox="1"/>
          <p:nvPr>
            <p:ph idx="8" type="subTitle"/>
          </p:nvPr>
        </p:nvSpPr>
        <p:spPr>
          <a:xfrm>
            <a:off x="489000" y="4223150"/>
            <a:ext cx="51180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h2c73c3ada47f7cb8_1_23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3" name="Google Shape;483;h2c73c3ada47f7cb8_1_2313"/>
          <p:cNvSpPr/>
          <p:nvPr>
            <p:ph idx="2" type="pic"/>
          </p:nvPr>
        </p:nvSpPr>
        <p:spPr>
          <a:xfrm>
            <a:off x="415600" y="1560567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2c73c3ada47f7cb8_1_2316"/>
          <p:cNvSpPr txBox="1"/>
          <p:nvPr>
            <p:ph idx="1" type="body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6" name="Google Shape;486;h2c73c3ada47f7cb8_1_2316"/>
          <p:cNvSpPr/>
          <p:nvPr>
            <p:ph idx="2" type="pic"/>
          </p:nvPr>
        </p:nvSpPr>
        <p:spPr>
          <a:xfrm>
            <a:off x="64064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h2c73c3ada47f7cb8_1_2316"/>
          <p:cNvSpPr/>
          <p:nvPr>
            <p:ph idx="3" type="pic"/>
          </p:nvPr>
        </p:nvSpPr>
        <p:spPr>
          <a:xfrm>
            <a:off x="4156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h2c73c3ada47f7cb8_1_2316"/>
          <p:cNvSpPr txBox="1"/>
          <p:nvPr>
            <p:ph idx="4" type="body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9" name="Google Shape;489;h2c73c3ada47f7cb8_1_23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90" name="Google Shape;490;h2c73c3ada47f7cb8_1_2316"/>
          <p:cNvSpPr txBox="1"/>
          <p:nvPr>
            <p:ph idx="5" type="subTitle"/>
          </p:nvPr>
        </p:nvSpPr>
        <p:spPr>
          <a:xfrm>
            <a:off x="415633" y="4777200"/>
            <a:ext cx="53700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1" name="Google Shape;491;h2c73c3ada47f7cb8_1_2316"/>
          <p:cNvSpPr txBox="1"/>
          <p:nvPr>
            <p:ph idx="6" type="subTitle"/>
          </p:nvPr>
        </p:nvSpPr>
        <p:spPr>
          <a:xfrm>
            <a:off x="6406433" y="4777200"/>
            <a:ext cx="53700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2c73c3ada47f7cb8_1_2324"/>
          <p:cNvSpPr txBox="1"/>
          <p:nvPr>
            <p:ph idx="1" type="body"/>
          </p:nvPr>
        </p:nvSpPr>
        <p:spPr>
          <a:xfrm>
            <a:off x="415600" y="5215600"/>
            <a:ext cx="3502800" cy="13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4" name="Google Shape;494;h2c73c3ada47f7cb8_1_2324"/>
          <p:cNvSpPr/>
          <p:nvPr>
            <p:ph idx="2" type="pic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h2c73c3ada47f7cb8_1_2324"/>
          <p:cNvSpPr/>
          <p:nvPr>
            <p:ph idx="3" type="pic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h2c73c3ada47f7cb8_1_2324"/>
          <p:cNvSpPr txBox="1"/>
          <p:nvPr>
            <p:ph idx="4" type="body"/>
          </p:nvPr>
        </p:nvSpPr>
        <p:spPr>
          <a:xfrm>
            <a:off x="8273633" y="5215600"/>
            <a:ext cx="3502800" cy="13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7" name="Google Shape;497;h2c73c3ada47f7cb8_1_2324"/>
          <p:cNvSpPr/>
          <p:nvPr>
            <p:ph idx="5" type="pic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h2c73c3ada47f7cb8_1_2324"/>
          <p:cNvSpPr txBox="1"/>
          <p:nvPr>
            <p:ph idx="6" type="body"/>
          </p:nvPr>
        </p:nvSpPr>
        <p:spPr>
          <a:xfrm>
            <a:off x="4340333" y="5215600"/>
            <a:ext cx="3502800" cy="13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9" name="Google Shape;499;h2c73c3ada47f7cb8_1_23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00" name="Google Shape;500;h2c73c3ada47f7cb8_1_2324"/>
          <p:cNvSpPr txBox="1"/>
          <p:nvPr>
            <p:ph idx="7" type="subTitle"/>
          </p:nvPr>
        </p:nvSpPr>
        <p:spPr>
          <a:xfrm>
            <a:off x="415633" y="4574000"/>
            <a:ext cx="35028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1" name="Google Shape;501;h2c73c3ada47f7cb8_1_2324"/>
          <p:cNvSpPr txBox="1"/>
          <p:nvPr>
            <p:ph idx="8" type="subTitle"/>
          </p:nvPr>
        </p:nvSpPr>
        <p:spPr>
          <a:xfrm>
            <a:off x="8273633" y="4574000"/>
            <a:ext cx="35028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2" name="Google Shape;502;h2c73c3ada47f7cb8_1_2324"/>
          <p:cNvSpPr txBox="1"/>
          <p:nvPr>
            <p:ph idx="9" type="subTitle"/>
          </p:nvPr>
        </p:nvSpPr>
        <p:spPr>
          <a:xfrm>
            <a:off x="4340333" y="4574000"/>
            <a:ext cx="3502800" cy="6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h2c73c3ada47f7cb8_1_2335"/>
          <p:cNvSpPr/>
          <p:nvPr>
            <p:ph idx="2" type="pic"/>
          </p:nvPr>
        </p:nvSpPr>
        <p:spPr>
          <a:xfrm>
            <a:off x="415600" y="593367"/>
            <a:ext cx="11360700" cy="562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2c73c3ada47f7cb8_1_2337"/>
          <p:cNvSpPr/>
          <p:nvPr>
            <p:ph idx="2" type="pic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h2c73c3ada47f7cb8_1_2337"/>
          <p:cNvSpPr/>
          <p:nvPr>
            <p:ph idx="3" type="pic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h2c73c3ada47f7cb8_1_2337"/>
          <p:cNvSpPr/>
          <p:nvPr>
            <p:ph idx="4" type="pic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h2c73c3ada47f7cb8_1_2337"/>
          <p:cNvSpPr/>
          <p:nvPr>
            <p:ph idx="5" type="pic"/>
          </p:nvPr>
        </p:nvSpPr>
        <p:spPr>
          <a:xfrm>
            <a:off x="4519450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h2c73c3ada47f7cb8_1_2337"/>
          <p:cNvSpPr/>
          <p:nvPr>
            <p:ph idx="6" type="pic"/>
          </p:nvPr>
        </p:nvSpPr>
        <p:spPr>
          <a:xfrm>
            <a:off x="6927897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h2c73c3ada47f7cb8_1_2337"/>
          <p:cNvSpPr/>
          <p:nvPr>
            <p:ph idx="7" type="pic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h2c73c3ada47f7cb8_1_2337"/>
          <p:cNvSpPr txBox="1"/>
          <p:nvPr>
            <p:ph type="title"/>
          </p:nvPr>
        </p:nvSpPr>
        <p:spPr>
          <a:xfrm>
            <a:off x="468733" y="593367"/>
            <a:ext cx="3462300" cy="22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13" name="Google Shape;513;h2c73c3ada47f7cb8_1_2337"/>
          <p:cNvSpPr/>
          <p:nvPr>
            <p:ph idx="8" type="pic"/>
          </p:nvPr>
        </p:nvSpPr>
        <p:spPr>
          <a:xfrm>
            <a:off x="4519450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h2c73c3ada47f7cb8_1_2337"/>
          <p:cNvSpPr/>
          <p:nvPr>
            <p:ph idx="9" type="pic"/>
          </p:nvPr>
        </p:nvSpPr>
        <p:spPr>
          <a:xfrm>
            <a:off x="6927897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h2c73c3ada47f7cb8_1_2337"/>
          <p:cNvSpPr/>
          <p:nvPr>
            <p:ph idx="13" type="pic"/>
          </p:nvPr>
        </p:nvSpPr>
        <p:spPr>
          <a:xfrm>
            <a:off x="9336343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418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 1">
  <p:cSld name="Title slide ALT 1 (h4cfefd4b74e66786_14_0)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h2c73c3ada47f7cb8_1_2348"/>
          <p:cNvSpPr/>
          <p:nvPr>
            <p:ph idx="2" type="pic"/>
          </p:nvPr>
        </p:nvSpPr>
        <p:spPr>
          <a:xfrm>
            <a:off x="2020000" y="5581933"/>
            <a:ext cx="8865900" cy="1280400"/>
          </a:xfrm>
          <a:prstGeom prst="round2SameRect">
            <a:avLst>
              <a:gd fmla="val 3129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18" name="Google Shape;518;h2c73c3ada47f7cb8_1_2348"/>
          <p:cNvSpPr/>
          <p:nvPr>
            <p:ph idx="3" type="pic"/>
          </p:nvPr>
        </p:nvSpPr>
        <p:spPr>
          <a:xfrm flipH="1">
            <a:off x="10957631" y="5583900"/>
            <a:ext cx="1232400" cy="1280400"/>
          </a:xfrm>
          <a:prstGeom prst="round1Rect">
            <a:avLst>
              <a:gd fmla="val 21722" name="adj"/>
            </a:avLst>
          </a:prstGeom>
          <a:noFill/>
          <a:ln>
            <a:noFill/>
          </a:ln>
        </p:spPr>
      </p:sp>
      <p:sp>
        <p:nvSpPr>
          <p:cNvPr id="519" name="Google Shape;519;h2c73c3ada47f7cb8_1_2348"/>
          <p:cNvSpPr/>
          <p:nvPr>
            <p:ph idx="4" type="pic"/>
          </p:nvPr>
        </p:nvSpPr>
        <p:spPr>
          <a:xfrm rot="10800000">
            <a:off x="2019900" y="-3190"/>
            <a:ext cx="4133700" cy="13035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520" name="Google Shape;520;h2c73c3ada47f7cb8_1_2348"/>
          <p:cNvSpPr/>
          <p:nvPr>
            <p:ph idx="5" type="pic"/>
          </p:nvPr>
        </p:nvSpPr>
        <p:spPr>
          <a:xfrm rot="10800000">
            <a:off x="6219733" y="-2590"/>
            <a:ext cx="5970300" cy="13029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  <p:sp>
        <p:nvSpPr>
          <p:cNvPr id="521" name="Google Shape;521;h2c73c3ada47f7cb8_1_2348"/>
          <p:cNvSpPr txBox="1"/>
          <p:nvPr>
            <p:ph type="ctrTitle"/>
          </p:nvPr>
        </p:nvSpPr>
        <p:spPr>
          <a:xfrm>
            <a:off x="2966400" y="1999967"/>
            <a:ext cx="8019600" cy="221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Manrope SemiBold"/>
              <a:buNone/>
              <a:defRPr sz="61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22" name="Google Shape;522;h2c73c3ada47f7cb8_1_2348"/>
          <p:cNvSpPr txBox="1"/>
          <p:nvPr>
            <p:ph idx="1" type="subTitle"/>
          </p:nvPr>
        </p:nvSpPr>
        <p:spPr>
          <a:xfrm>
            <a:off x="377967" y="377967"/>
            <a:ext cx="1641600" cy="3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nrope Light"/>
              <a:buNone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523" name="Google Shape;523;h2c73c3ada47f7cb8_1_2348"/>
          <p:cNvSpPr txBox="1"/>
          <p:nvPr>
            <p:ph idx="6" type="subTitle"/>
          </p:nvPr>
        </p:nvSpPr>
        <p:spPr>
          <a:xfrm>
            <a:off x="2984067" y="4091600"/>
            <a:ext cx="7352400" cy="54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24" name="Google Shape;524;h2c73c3ada47f7cb8_1_2348"/>
          <p:cNvSpPr/>
          <p:nvPr>
            <p:ph idx="7" type="pic"/>
          </p:nvPr>
        </p:nvSpPr>
        <p:spPr>
          <a:xfrm>
            <a:off x="3200" y="5559133"/>
            <a:ext cx="1952400" cy="13029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 1">
  <p:cSld name="Agenda ALT 1 (h4cfefd4b74e66786_25_0)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2c73c3ada47f7cb8_1_2357"/>
          <p:cNvSpPr/>
          <p:nvPr>
            <p:ph idx="2" type="pic"/>
          </p:nvPr>
        </p:nvSpPr>
        <p:spPr>
          <a:xfrm>
            <a:off x="9966033" y="377967"/>
            <a:ext cx="1848000" cy="648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527" name="Google Shape;527;h2c73c3ada47f7cb8_1_2357"/>
          <p:cNvSpPr txBox="1"/>
          <p:nvPr>
            <p:ph idx="12" type="sldNum"/>
          </p:nvPr>
        </p:nvSpPr>
        <p:spPr>
          <a:xfrm>
            <a:off x="11082433" y="6262252"/>
            <a:ext cx="731700" cy="243900"/>
          </a:xfrm>
          <a:prstGeom prst="rect">
            <a:avLst/>
          </a:prstGeom>
        </p:spPr>
        <p:txBody>
          <a:bodyPr anchorCtr="0" anchor="b" bIns="0" lIns="121900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8" name="Google Shape;528;h2c73c3ada47f7cb8_1_2357"/>
          <p:cNvSpPr txBox="1"/>
          <p:nvPr>
            <p:ph idx="1" type="subTitle"/>
          </p:nvPr>
        </p:nvSpPr>
        <p:spPr>
          <a:xfrm>
            <a:off x="377967" y="4116300"/>
            <a:ext cx="29127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29" name="Google Shape;529;h2c73c3ada47f7cb8_1_2357"/>
          <p:cNvSpPr txBox="1"/>
          <p:nvPr>
            <p:ph idx="3" type="subTitle"/>
          </p:nvPr>
        </p:nvSpPr>
        <p:spPr>
          <a:xfrm>
            <a:off x="3463583" y="4116300"/>
            <a:ext cx="29139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30" name="Google Shape;530;h2c73c3ada47f7cb8_1_2357"/>
          <p:cNvSpPr txBox="1"/>
          <p:nvPr>
            <p:ph idx="4" type="subTitle"/>
          </p:nvPr>
        </p:nvSpPr>
        <p:spPr>
          <a:xfrm>
            <a:off x="6550400" y="4116300"/>
            <a:ext cx="29139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1" name="Google Shape;531;h2c73c3ada47f7cb8_1_2357"/>
          <p:cNvSpPr txBox="1"/>
          <p:nvPr>
            <p:ph idx="5" type="subTitle"/>
          </p:nvPr>
        </p:nvSpPr>
        <p:spPr>
          <a:xfrm>
            <a:off x="391100" y="3105667"/>
            <a:ext cx="25443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32" name="Google Shape;532;h2c73c3ada47f7cb8_1_2357"/>
          <p:cNvSpPr txBox="1"/>
          <p:nvPr>
            <p:ph idx="6" type="subTitle"/>
          </p:nvPr>
        </p:nvSpPr>
        <p:spPr>
          <a:xfrm>
            <a:off x="3425967" y="3105667"/>
            <a:ext cx="26229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33" name="Google Shape;533;h2c73c3ada47f7cb8_1_2357"/>
          <p:cNvSpPr txBox="1"/>
          <p:nvPr>
            <p:ph idx="7" type="subTitle"/>
          </p:nvPr>
        </p:nvSpPr>
        <p:spPr>
          <a:xfrm>
            <a:off x="6539233" y="3105667"/>
            <a:ext cx="26229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34" name="Google Shape;534;h2c73c3ada47f7cb8_1_2357"/>
          <p:cNvSpPr txBox="1"/>
          <p:nvPr>
            <p:ph type="title"/>
          </p:nvPr>
        </p:nvSpPr>
        <p:spPr>
          <a:xfrm>
            <a:off x="1118033" y="569933"/>
            <a:ext cx="7770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 2">
  <p:cSld name="Agenda ALT 1 (h4cfefd4b74e66786_35_0)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h2c73c3ada47f7cb8_1_2367"/>
          <p:cNvSpPr/>
          <p:nvPr>
            <p:ph idx="2" type="pic"/>
          </p:nvPr>
        </p:nvSpPr>
        <p:spPr>
          <a:xfrm>
            <a:off x="9966033" y="377967"/>
            <a:ext cx="1848000" cy="648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537" name="Google Shape;537;h2c73c3ada47f7cb8_1_2367"/>
          <p:cNvSpPr txBox="1"/>
          <p:nvPr>
            <p:ph idx="12" type="sldNum"/>
          </p:nvPr>
        </p:nvSpPr>
        <p:spPr>
          <a:xfrm>
            <a:off x="11082433" y="6262252"/>
            <a:ext cx="731700" cy="243900"/>
          </a:xfrm>
          <a:prstGeom prst="rect">
            <a:avLst/>
          </a:prstGeom>
        </p:spPr>
        <p:txBody>
          <a:bodyPr anchorCtr="0" anchor="b" bIns="0" lIns="121900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" name="Google Shape;538;h2c73c3ada47f7cb8_1_2367"/>
          <p:cNvSpPr txBox="1"/>
          <p:nvPr>
            <p:ph idx="1" type="subTitle"/>
          </p:nvPr>
        </p:nvSpPr>
        <p:spPr>
          <a:xfrm>
            <a:off x="377967" y="4116300"/>
            <a:ext cx="29127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39" name="Google Shape;539;h2c73c3ada47f7cb8_1_2367"/>
          <p:cNvSpPr txBox="1"/>
          <p:nvPr>
            <p:ph idx="3" type="subTitle"/>
          </p:nvPr>
        </p:nvSpPr>
        <p:spPr>
          <a:xfrm>
            <a:off x="3463583" y="4116300"/>
            <a:ext cx="29139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40" name="Google Shape;540;h2c73c3ada47f7cb8_1_2367"/>
          <p:cNvSpPr txBox="1"/>
          <p:nvPr>
            <p:ph idx="4" type="subTitle"/>
          </p:nvPr>
        </p:nvSpPr>
        <p:spPr>
          <a:xfrm>
            <a:off x="6550400" y="4116300"/>
            <a:ext cx="2913900" cy="101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41" name="Google Shape;541;h2c73c3ada47f7cb8_1_2367"/>
          <p:cNvSpPr txBox="1"/>
          <p:nvPr>
            <p:ph idx="5" type="subTitle"/>
          </p:nvPr>
        </p:nvSpPr>
        <p:spPr>
          <a:xfrm>
            <a:off x="391100" y="3105667"/>
            <a:ext cx="25443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42" name="Google Shape;542;h2c73c3ada47f7cb8_1_2367"/>
          <p:cNvSpPr txBox="1"/>
          <p:nvPr>
            <p:ph idx="6" type="subTitle"/>
          </p:nvPr>
        </p:nvSpPr>
        <p:spPr>
          <a:xfrm>
            <a:off x="3425967" y="3105667"/>
            <a:ext cx="26229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43" name="Google Shape;543;h2c73c3ada47f7cb8_1_2367"/>
          <p:cNvSpPr txBox="1"/>
          <p:nvPr>
            <p:ph idx="7" type="subTitle"/>
          </p:nvPr>
        </p:nvSpPr>
        <p:spPr>
          <a:xfrm>
            <a:off x="6539233" y="3105667"/>
            <a:ext cx="2622900" cy="82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None/>
              <a:defRPr sz="21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44" name="Google Shape;544;h2c73c3ada47f7cb8_1_2367"/>
          <p:cNvSpPr txBox="1"/>
          <p:nvPr>
            <p:ph type="title"/>
          </p:nvPr>
        </p:nvSpPr>
        <p:spPr>
          <a:xfrm>
            <a:off x="1118033" y="569933"/>
            <a:ext cx="7770000" cy="7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5.xml"/><Relationship Id="rId41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7.xml"/><Relationship Id="rId43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59.xml"/><Relationship Id="rId45" Type="http://schemas.openxmlformats.org/officeDocument/2006/relationships/slideLayout" Target="../slideLayouts/slideLayout58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48" Type="http://schemas.openxmlformats.org/officeDocument/2006/relationships/slideLayout" Target="../slideLayouts/slideLayout61.xml"/><Relationship Id="rId47" Type="http://schemas.openxmlformats.org/officeDocument/2006/relationships/slideLayout" Target="../slideLayouts/slideLayout60.xml"/><Relationship Id="rId49" Type="http://schemas.openxmlformats.org/officeDocument/2006/relationships/slideLayout" Target="../slideLayouts/slideLayout6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2.xml"/><Relationship Id="rId51" Type="http://schemas.openxmlformats.org/officeDocument/2006/relationships/theme" Target="../theme/theme2.xml"/><Relationship Id="rId5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2c73c3ada47f7cb8_1_1924"/>
          <p:cNvSpPr txBox="1"/>
          <p:nvPr>
            <p:ph idx="12" type="sldNum"/>
          </p:nvPr>
        </p:nvSpPr>
        <p:spPr>
          <a:xfrm>
            <a:off x="11082433" y="6262252"/>
            <a:ext cx="731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21900" spcFirstLastPara="1" rIns="0" wrap="square" tIns="0">
            <a:normAutofit/>
          </a:bodyPr>
          <a:lstStyle>
            <a:lvl1pPr lvl="0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h2c73c3ada47f7cb8_1_1924"/>
          <p:cNvSpPr txBox="1"/>
          <p:nvPr>
            <p:ph idx="1" type="body"/>
          </p:nvPr>
        </p:nvSpPr>
        <p:spPr>
          <a:xfrm>
            <a:off x="379600" y="2376433"/>
            <a:ext cx="57165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●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○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■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●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○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■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●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○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■"/>
              <a:defRPr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96" name="Google Shape;96;h2c73c3ada47f7cb8_1_1924"/>
          <p:cNvSpPr txBox="1"/>
          <p:nvPr>
            <p:ph type="title"/>
          </p:nvPr>
        </p:nvSpPr>
        <p:spPr>
          <a:xfrm>
            <a:off x="377967" y="560300"/>
            <a:ext cx="97644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nrope"/>
              <a:buNone/>
              <a:defRPr sz="3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99">
          <p15:clr>
            <a:schemeClr val="accent3"/>
          </p15:clr>
        </p15:guide>
        <p15:guide id="2" orient="horz" pos="399">
          <p15:clr>
            <a:schemeClr val="accent3"/>
          </p15:clr>
        </p15:guide>
        <p15:guide id="3" orient="horz" pos="1198">
          <p15:clr>
            <a:schemeClr val="accent3"/>
          </p15:clr>
        </p15:guide>
        <p15:guide id="4" pos="2081">
          <p15:clr>
            <a:schemeClr val="accent3"/>
          </p15:clr>
        </p15:guide>
        <p15:guide id="5" pos="2158">
          <p15:clr>
            <a:schemeClr val="accent3"/>
          </p15:clr>
        </p15:guide>
        <p15:guide id="6" orient="horz" pos="1283">
          <p15:clr>
            <a:schemeClr val="accent3"/>
          </p15:clr>
        </p15:guide>
        <p15:guide id="7" orient="horz" pos="2081">
          <p15:clr>
            <a:schemeClr val="accent3"/>
          </p15:clr>
        </p15:guide>
        <p15:guide id="8" orient="horz" pos="2158">
          <p15:clr>
            <a:schemeClr val="accent3"/>
          </p15:clr>
        </p15:guide>
        <p15:guide id="9" orient="horz" pos="3041">
          <p15:clr>
            <a:schemeClr val="accent3"/>
          </p15:clr>
        </p15:guide>
        <p15:guide id="10" orient="horz" pos="3118">
          <p15:clr>
            <a:schemeClr val="accent3"/>
          </p15:clr>
        </p15:guide>
        <p15:guide id="11" orient="horz" pos="3924">
          <p15:clr>
            <a:schemeClr val="accent3"/>
          </p15:clr>
        </p15:guide>
        <p15:guide id="12" pos="2642">
          <p15:clr>
            <a:schemeClr val="accent5"/>
          </p15:clr>
        </p15:guide>
        <p15:guide id="13" pos="2719">
          <p15:clr>
            <a:schemeClr val="accent5"/>
          </p15:clr>
        </p15:guide>
        <p15:guide id="14" pos="3840">
          <p15:clr>
            <a:schemeClr val="accent3"/>
          </p15:clr>
        </p15:guide>
        <p15:guide id="15" pos="3917">
          <p15:clr>
            <a:schemeClr val="accent3"/>
          </p15:clr>
        </p15:guide>
        <p15:guide id="16" pos="4961">
          <p15:clr>
            <a:schemeClr val="accent5"/>
          </p15:clr>
        </p15:guide>
        <p15:guide id="17" pos="5038">
          <p15:clr>
            <a:schemeClr val="accent5"/>
          </p15:clr>
        </p15:guide>
        <p15:guide id="18" pos="5522">
          <p15:clr>
            <a:schemeClr val="accent3"/>
          </p15:clr>
        </p15:guide>
        <p15:guide id="19" pos="5599">
          <p15:clr>
            <a:schemeClr val="accent3"/>
          </p15:clr>
        </p15:guide>
        <p15:guide id="20" pos="7281">
          <p15:clr>
            <a:schemeClr val="accent3"/>
          </p15:clr>
        </p15:guide>
        <p15:guide id="21" pos="238">
          <p15:clr>
            <a:schemeClr val="accent1"/>
          </p15:clr>
        </p15:guide>
        <p15:guide id="22" pos="7442">
          <p15:clr>
            <a:schemeClr val="accent1"/>
          </p15:clr>
        </p15:guide>
        <p15:guide id="23" orient="horz" pos="238">
          <p15:clr>
            <a:schemeClr val="accent1"/>
          </p15:clr>
        </p15:guide>
        <p15:guide id="24" orient="horz" pos="4078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1"/>
          <p:cNvGrpSpPr/>
          <p:nvPr/>
        </p:nvGrpSpPr>
        <p:grpSpPr>
          <a:xfrm>
            <a:off x="-952500" y="-1905000"/>
            <a:ext cx="14763750" cy="10001250"/>
            <a:chOff x="-952500" y="-1905000"/>
            <a:chExt cx="14763750" cy="10001250"/>
          </a:xfrm>
        </p:grpSpPr>
        <p:sp>
          <p:nvSpPr>
            <p:cNvPr id="550" name="Google Shape;550;p1"/>
            <p:cNvSpPr/>
            <p:nvPr/>
          </p:nvSpPr>
          <p:spPr>
            <a:xfrm>
              <a:off x="7143750" y="-1905000"/>
              <a:ext cx="6667500" cy="66675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"/>
            <p:cNvSpPr/>
            <p:nvPr/>
          </p:nvSpPr>
          <p:spPr>
            <a:xfrm>
              <a:off x="-952500" y="3333750"/>
              <a:ext cx="4762500" cy="4762500"/>
            </a:xfrm>
            <a:prstGeom prst="ellipse">
              <a:avLst/>
            </a:prstGeom>
            <a:solidFill>
              <a:srgbClr val="6366F1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"/>
            <p:cNvSpPr/>
            <p:nvPr/>
          </p:nvSpPr>
          <p:spPr>
            <a:xfrm>
              <a:off x="1143000" y="1143000"/>
              <a:ext cx="9906000" cy="4572000"/>
            </a:xfrm>
            <a:prstGeom prst="roundRect">
              <a:avLst>
                <a:gd fmla="val 4166" name="adj"/>
              </a:avLst>
            </a:prstGeom>
            <a:solidFill>
              <a:srgbClr val="111827">
                <a:alpha val="70000"/>
              </a:srgbClr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"/>
            <p:cNvSpPr/>
            <p:nvPr/>
          </p:nvSpPr>
          <p:spPr>
            <a:xfrm>
              <a:off x="1714500" y="2000250"/>
              <a:ext cx="4572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1"/>
          <p:cNvSpPr txBox="1"/>
          <p:nvPr>
            <p:ph type="ctrTitle"/>
          </p:nvPr>
        </p:nvSpPr>
        <p:spPr>
          <a:xfrm>
            <a:off x="1714500" y="2190750"/>
            <a:ext cx="8763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STAT 390 • RESEARCH PROJECT</a:t>
            </a:r>
            <a:endParaRPr b="1" sz="13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Presentation 1</a:t>
            </a:r>
            <a:endParaRPr b="1" sz="5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Hierarchical Attention Multiple Instance Learning (MIL) Analysis</a:t>
            </a:r>
            <a:endParaRPr b="0" sz="16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2c73c3ada47f7cb8_1_395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ANALYST</a:t>
            </a:r>
            <a:endParaRPr/>
          </a:p>
        </p:txBody>
      </p:sp>
      <p:sp>
        <p:nvSpPr>
          <p:cNvPr id="560" name="Google Shape;560;h2c73c3ada47f7cb8_1_3956"/>
          <p:cNvSpPr txBox="1"/>
          <p:nvPr/>
        </p:nvSpPr>
        <p:spPr>
          <a:xfrm>
            <a:off x="4378825" y="3510075"/>
            <a:ext cx="4105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Dina, Maya, Haowen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972" y="1786896"/>
            <a:ext cx="9510056" cy="336814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"/>
          <p:cNvSpPr txBox="1"/>
          <p:nvPr/>
        </p:nvSpPr>
        <p:spPr>
          <a:xfrm>
            <a:off x="804332" y="1557868"/>
            <a:ext cx="298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the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Attention MIL model to evaluation mode, create output folders, and initialize result containers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"/>
          <p:cNvSpPr txBox="1"/>
          <p:nvPr/>
        </p:nvSpPr>
        <p:spPr>
          <a:xfrm>
            <a:off x="4605866" y="1189733"/>
            <a:ext cx="310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Retrieve each case's prepared stain/slice data and run the model to obtain classification scores and attention weights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"/>
          <p:cNvSpPr txBox="1"/>
          <p:nvPr/>
        </p:nvSpPr>
        <p:spPr>
          <a:xfrm>
            <a:off x="8051800" y="1557868"/>
            <a:ext cx="310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Retrieve the actual diagnosis, determine the predicted diagnosis using model scores, and store both labels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"/>
          <p:cNvSpPr txBox="1"/>
          <p:nvPr/>
        </p:nvSpPr>
        <p:spPr>
          <a:xfrm>
            <a:off x="9084733" y="4216401"/>
            <a:ext cx="310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the most attended stain and highest/lowest-attention slices; calculate effective attention for every patch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"/>
          <p:cNvSpPr txBox="1"/>
          <p:nvPr/>
        </p:nvSpPr>
        <p:spPr>
          <a:xfrm>
            <a:off x="6265333" y="5021936"/>
            <a:ext cx="310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Visualize high- and low-attention patches and collect slice-level attention records for the current case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"/>
          <p:cNvSpPr txBox="1"/>
          <p:nvPr/>
        </p:nvSpPr>
        <p:spPr>
          <a:xfrm>
            <a:off x="1981200" y="5067504"/>
            <a:ext cx="310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 stain-level attention summaries and generate patch- and slice-level attention distribution plots for each case</a:t>
            </a:r>
            <a:endParaRPr/>
          </a:p>
        </p:txBody>
      </p:sp>
      <p:sp>
        <p:nvSpPr>
          <p:cNvPr id="572" name="Google Shape;572;p2"/>
          <p:cNvSpPr txBox="1"/>
          <p:nvPr/>
        </p:nvSpPr>
        <p:spPr>
          <a:xfrm>
            <a:off x="6055771" y="2951620"/>
            <a:ext cx="67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"/>
          <p:cNvSpPr txBox="1"/>
          <p:nvPr/>
        </p:nvSpPr>
        <p:spPr>
          <a:xfrm>
            <a:off x="4605866" y="3903136"/>
            <a:ext cx="419101" cy="287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p2"/>
          <p:cNvGrpSpPr/>
          <p:nvPr/>
        </p:nvGrpSpPr>
        <p:grpSpPr>
          <a:xfrm>
            <a:off x="9228666" y="5138549"/>
            <a:ext cx="2819400" cy="1569543"/>
            <a:chOff x="9228666" y="5138549"/>
            <a:chExt cx="2819400" cy="1569543"/>
          </a:xfrm>
        </p:grpSpPr>
        <p:sp>
          <p:nvSpPr>
            <p:cNvPr id="575" name="Google Shape;575;p2"/>
            <p:cNvSpPr txBox="1"/>
            <p:nvPr/>
          </p:nvSpPr>
          <p:spPr>
            <a:xfrm>
              <a:off x="9228666" y="5138549"/>
              <a:ext cx="2819400" cy="323165"/>
            </a:xfrm>
            <a:prstGeom prst="rect">
              <a:avLst/>
            </a:prstGeom>
            <a:solidFill>
              <a:srgbClr val="EDF5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Initialization</a:t>
              </a:r>
              <a:endParaRPr/>
            </a:p>
          </p:txBody>
        </p:sp>
        <p:sp>
          <p:nvSpPr>
            <p:cNvPr id="576" name="Google Shape;576;p2"/>
            <p:cNvSpPr txBox="1"/>
            <p:nvPr/>
          </p:nvSpPr>
          <p:spPr>
            <a:xfrm>
              <a:off x="9228666" y="5438573"/>
              <a:ext cx="2819400" cy="323165"/>
            </a:xfrm>
            <a:prstGeom prst="rect">
              <a:avLst/>
            </a:prstGeom>
            <a:solidFill>
              <a:srgbClr val="C3F7C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Inference &amp; Classification</a:t>
              </a:r>
              <a:endParaRPr/>
            </a:p>
          </p:txBody>
        </p:sp>
        <p:sp>
          <p:nvSpPr>
            <p:cNvPr id="577" name="Google Shape;577;p2"/>
            <p:cNvSpPr txBox="1"/>
            <p:nvPr/>
          </p:nvSpPr>
          <p:spPr>
            <a:xfrm>
              <a:off x="9228666" y="5761738"/>
              <a:ext cx="2819400" cy="323165"/>
            </a:xfrm>
            <a:prstGeom prst="rect">
              <a:avLst/>
            </a:prstGeom>
            <a:solidFill>
              <a:srgbClr val="F4D9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Analysis &amp; Visualization</a:t>
              </a:r>
              <a:endParaRPr/>
            </a:p>
          </p:txBody>
        </p:sp>
        <p:sp>
          <p:nvSpPr>
            <p:cNvPr id="578" name="Google Shape;578;p2"/>
            <p:cNvSpPr txBox="1"/>
            <p:nvPr/>
          </p:nvSpPr>
          <p:spPr>
            <a:xfrm>
              <a:off x="9228666" y="6061762"/>
              <a:ext cx="2819400" cy="323165"/>
            </a:xfrm>
            <a:prstGeom prst="rect">
              <a:avLst/>
            </a:prstGeom>
            <a:solidFill>
              <a:srgbClr val="FFD9D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Decision</a:t>
              </a:r>
              <a:endParaRPr/>
            </a:p>
          </p:txBody>
        </p:sp>
        <p:sp>
          <p:nvSpPr>
            <p:cNvPr id="579" name="Google Shape;579;p2"/>
            <p:cNvSpPr txBox="1"/>
            <p:nvPr/>
          </p:nvSpPr>
          <p:spPr>
            <a:xfrm>
              <a:off x="9228666" y="6384927"/>
              <a:ext cx="2819400" cy="323165"/>
            </a:xfrm>
            <a:prstGeom prst="rect">
              <a:avLst/>
            </a:prstGeom>
            <a:solidFill>
              <a:srgbClr val="FFF3D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 &amp; Reporting</a:t>
              </a:r>
              <a:endParaRPr/>
            </a:p>
          </p:txBody>
        </p:sp>
      </p:grpSp>
      <p:sp>
        <p:nvSpPr>
          <p:cNvPr id="580" name="Google Shape;580;p2"/>
          <p:cNvSpPr txBox="1"/>
          <p:nvPr/>
        </p:nvSpPr>
        <p:spPr>
          <a:xfrm>
            <a:off x="0" y="2481202"/>
            <a:ext cx="2514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the top 5% highest-attention patches per case, analyze their distribution, and export CSV and text summaries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"/>
          <p:cNvSpPr txBox="1"/>
          <p:nvPr>
            <p:ph type="title"/>
          </p:nvPr>
        </p:nvSpPr>
        <p:spPr>
          <a:xfrm>
            <a:off x="838200" y="365125"/>
            <a:ext cx="10515600" cy="731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General Flowchart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"/>
          <p:cNvSpPr txBox="1"/>
          <p:nvPr>
            <p:ph type="title"/>
          </p:nvPr>
        </p:nvSpPr>
        <p:spPr>
          <a:xfrm>
            <a:off x="838200" y="365126"/>
            <a:ext cx="10515600" cy="820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Analyze Attention Weights: Identifying High-Attention Patches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he diagram illustrates a multi-level process for identifying and prioritizing high-attention patches within a case, detailing steps from initial identification to final selection of top and bottom patches.&#10;&#10;AI-generated content may be incorrect." id="587" name="Google Shape;58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06" y="1292645"/>
            <a:ext cx="5425587" cy="532511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"/>
          <p:cNvSpPr txBox="1"/>
          <p:nvPr/>
        </p:nvSpPr>
        <p:spPr>
          <a:xfrm>
            <a:off x="550334" y="3429000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 slice-level and patch-level attention weights for each stain from the MIL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"/>
          <p:cNvSpPr txBox="1"/>
          <p:nvPr/>
        </p:nvSpPr>
        <p:spPr>
          <a:xfrm>
            <a:off x="9059335" y="3428999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 stain-level, slice-level, and patch-level attention weights from the MIL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"/>
          <p:cNvSpPr txBox="1"/>
          <p:nvPr/>
        </p:nvSpPr>
        <p:spPr>
          <a:xfrm>
            <a:off x="550334" y="4216400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argmax() and argmin() to identify the slices with the highest and lowest attention weights within each stain</a:t>
            </a:r>
            <a:endParaRPr/>
          </a:p>
        </p:txBody>
      </p:sp>
      <p:sp>
        <p:nvSpPr>
          <p:cNvPr id="591" name="Google Shape;591;p3"/>
          <p:cNvSpPr txBox="1"/>
          <p:nvPr/>
        </p:nvSpPr>
        <p:spPr>
          <a:xfrm>
            <a:off x="550334" y="5003800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patches by their individual attention weights within the selected slices</a:t>
            </a:r>
            <a:endParaRPr/>
          </a:p>
        </p:txBody>
      </p:sp>
      <p:sp>
        <p:nvSpPr>
          <p:cNvPr id="592" name="Google Shape;592;p3"/>
          <p:cNvSpPr txBox="1"/>
          <p:nvPr/>
        </p:nvSpPr>
        <p:spPr>
          <a:xfrm>
            <a:off x="550334" y="5846543"/>
            <a:ext cx="283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top 5 patches from the most attended slice and bottom 5 from the least attended slice of each stain</a:t>
            </a:r>
            <a:endParaRPr/>
          </a:p>
        </p:txBody>
      </p:sp>
      <p:sp>
        <p:nvSpPr>
          <p:cNvPr id="593" name="Google Shape;593;p3"/>
          <p:cNvSpPr txBox="1"/>
          <p:nvPr/>
        </p:nvSpPr>
        <p:spPr>
          <a:xfrm>
            <a:off x="9059335" y="4216399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 stain, slice, and patch attention weights to calculate each patch's overall attention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"/>
          <p:cNvSpPr txBox="1"/>
          <p:nvPr/>
        </p:nvSpPr>
        <p:spPr>
          <a:xfrm>
            <a:off x="9059335" y="5003800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all patches by their effective attention weights, regardless of stain or slice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"/>
          <p:cNvSpPr txBox="1"/>
          <p:nvPr/>
        </p:nvSpPr>
        <p:spPr>
          <a:xfrm>
            <a:off x="9059335" y="5791201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5 patches with the highest and lowest effective attention weights across the entire case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"/>
          <p:cNvSpPr txBox="1"/>
          <p:nvPr>
            <p:ph type="title"/>
          </p:nvPr>
        </p:nvSpPr>
        <p:spPr>
          <a:xfrm>
            <a:off x="838200" y="365126"/>
            <a:ext cx="10515600" cy="820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Visualize Attention Patterns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4"/>
          <p:cNvSpPr txBox="1"/>
          <p:nvPr/>
        </p:nvSpPr>
        <p:spPr>
          <a:xfrm>
            <a:off x="1519598" y="2771401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selected patch indices to retrieve the corresponding image patches from their original slices</a:t>
            </a:r>
            <a:endParaRPr/>
          </a:p>
        </p:txBody>
      </p:sp>
      <p:sp>
        <p:nvSpPr>
          <p:cNvPr id="602" name="Google Shape;602;p4"/>
          <p:cNvSpPr txBox="1"/>
          <p:nvPr/>
        </p:nvSpPr>
        <p:spPr>
          <a:xfrm>
            <a:off x="1519598" y="3786632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the high- and low-attention patches identified through within-slice and effective-attention analysis</a:t>
            </a:r>
            <a:endParaRPr/>
          </a:p>
        </p:txBody>
      </p:sp>
      <p:sp>
        <p:nvSpPr>
          <p:cNvPr id="603" name="Google Shape;603;p4"/>
          <p:cNvSpPr txBox="1"/>
          <p:nvPr/>
        </p:nvSpPr>
        <p:spPr>
          <a:xfrm>
            <a:off x="1519598" y="4884941"/>
            <a:ext cx="27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Organize the selected patches and their attention information into visual outputs for interpretation</a:t>
            </a:r>
            <a:endParaRPr/>
          </a:p>
        </p:txBody>
      </p:sp>
      <p:pic>
        <p:nvPicPr>
          <p:cNvPr descr="The diagram illustrates a process for selecting and visualizing images based on attention patterns.&#10;&#10;AI-generated content may be incorrect." id="604" name="Google Shape;6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116" y="1304192"/>
            <a:ext cx="4295767" cy="454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h2c73c3ada47f7cb8_20_0"/>
          <p:cNvSpPr/>
          <p:nvPr/>
        </p:nvSpPr>
        <p:spPr>
          <a:xfrm>
            <a:off x="826500" y="1250925"/>
            <a:ext cx="10576200" cy="5518800"/>
          </a:xfrm>
          <a:prstGeom prst="roundRect">
            <a:avLst>
              <a:gd fmla="val 6019" name="adj"/>
            </a:avLst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10" name="Google Shape;610;h2c73c3ada47f7cb8_20_0"/>
          <p:cNvSpPr/>
          <p:nvPr/>
        </p:nvSpPr>
        <p:spPr>
          <a:xfrm>
            <a:off x="1006000" y="2143133"/>
            <a:ext cx="6582300" cy="6735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Glob .pt files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case_52_ and case_052_</a:t>
            </a:r>
            <a:endParaRPr sz="1900"/>
          </a:p>
        </p:txBody>
      </p:sp>
      <p:sp>
        <p:nvSpPr>
          <p:cNvPr id="611" name="Google Shape;611;h2c73c3ada47f7cb8_20_0"/>
          <p:cNvSpPr/>
          <p:nvPr/>
        </p:nvSpPr>
        <p:spPr>
          <a:xfrm>
            <a:off x="1006000" y="3092200"/>
            <a:ext cx="6582300" cy="6735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Keep this stain only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_file_contains_stain</a:t>
            </a:r>
            <a:endParaRPr sz="1900"/>
          </a:p>
        </p:txBody>
      </p:sp>
      <p:sp>
        <p:nvSpPr>
          <p:cNvPr id="612" name="Google Shape;612;h2c73c3ada47f7cb8_20_0"/>
          <p:cNvSpPr/>
          <p:nvPr/>
        </p:nvSpPr>
        <p:spPr>
          <a:xfrm>
            <a:off x="1006000" y="4041267"/>
            <a:ext cx="6582300" cy="6735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Group by slide ID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_parse_slice_id_from_filename</a:t>
            </a:r>
            <a:endParaRPr sz="1900"/>
          </a:p>
        </p:txBody>
      </p:sp>
      <p:sp>
        <p:nvSpPr>
          <p:cNvPr id="613" name="Google Shape;613;h2c73c3ada47f7cb8_20_0"/>
          <p:cNvSpPr/>
          <p:nvPr/>
        </p:nvSpPr>
        <p:spPr>
          <a:xfrm>
            <a:off x="1006000" y="4990333"/>
            <a:ext cx="6582300" cy="6735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Sort patches in each slice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_parse_patch_index_from_pt_filename</a:t>
            </a:r>
            <a:endParaRPr sz="1900"/>
          </a:p>
        </p:txBody>
      </p:sp>
      <p:sp>
        <p:nvSpPr>
          <p:cNvPr id="614" name="Google Shape;614;h2c73c3ada47f7cb8_20_0"/>
          <p:cNvSpPr/>
          <p:nvPr/>
        </p:nvSpPr>
        <p:spPr>
          <a:xfrm>
            <a:off x="1006000" y="5939400"/>
            <a:ext cx="6582300" cy="6735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Sort the slice IDs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sorted()</a:t>
            </a:r>
            <a:endParaRPr sz="1900"/>
          </a:p>
        </p:txBody>
      </p:sp>
      <p:sp>
        <p:nvSpPr>
          <p:cNvPr id="615" name="Google Shape;615;h2c73c3ada47f7cb8_20_0"/>
          <p:cNvSpPr txBox="1"/>
          <p:nvPr/>
        </p:nvSpPr>
        <p:spPr>
          <a:xfrm>
            <a:off x="1241500" y="1466567"/>
            <a:ext cx="952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Build file index cached per case + stain  </a:t>
            </a: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(_build_pt_index_for_case_stain)</a:t>
            </a:r>
            <a:endParaRPr sz="19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616" name="Google Shape;616;h2c73c3ada47f7cb8_20_0"/>
          <p:cNvSpPr txBox="1"/>
          <p:nvPr/>
        </p:nvSpPr>
        <p:spPr>
          <a:xfrm>
            <a:off x="7660925" y="2097514"/>
            <a:ext cx="346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_match_1_h&amp;e_patch10.pt,</a:t>
            </a:r>
            <a:endParaRPr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_match_1_melan_patch5.pt</a:t>
            </a:r>
            <a:endParaRPr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617" name="Google Shape;617;h2c73c3ada47f7cb8_20_0"/>
          <p:cNvSpPr txBox="1"/>
          <p:nvPr/>
        </p:nvSpPr>
        <p:spPr>
          <a:xfrm>
            <a:off x="7385200" y="3159550"/>
            <a:ext cx="401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keeps _h&amp;e_, drops _melan_</a:t>
            </a:r>
            <a:endParaRPr sz="1900"/>
          </a:p>
        </p:txBody>
      </p:sp>
      <p:sp>
        <p:nvSpPr>
          <p:cNvPr id="618" name="Google Shape;618;h2c73c3ada47f7cb8_20_0"/>
          <p:cNvSpPr txBox="1"/>
          <p:nvPr/>
        </p:nvSpPr>
        <p:spPr>
          <a:xfrm>
            <a:off x="7530424" y="3997504"/>
            <a:ext cx="3726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match_1, match_10, unmatched_2</a:t>
            </a:r>
            <a:endParaRPr sz="1900"/>
          </a:p>
        </p:txBody>
      </p:sp>
      <p:sp>
        <p:nvSpPr>
          <p:cNvPr id="619" name="Google Shape;619;h2c73c3ada47f7cb8_20_0"/>
          <p:cNvSpPr txBox="1"/>
          <p:nvPr/>
        </p:nvSpPr>
        <p:spPr>
          <a:xfrm>
            <a:off x="7385074" y="4911595"/>
            <a:ext cx="4017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DC2626"/>
                </a:solidFill>
                <a:latin typeface="Commissioner"/>
                <a:ea typeface="Commissioner"/>
                <a:cs typeface="Commissioner"/>
                <a:sym typeface="Commissioner"/>
              </a:rPr>
              <a:t>lookup: patch1, </a:t>
            </a:r>
            <a:r>
              <a:rPr b="1" lang="en-US" sz="1900">
                <a:solidFill>
                  <a:srgbClr val="DC2626"/>
                </a:solidFill>
                <a:latin typeface="Commissioner"/>
                <a:ea typeface="Commissioner"/>
                <a:cs typeface="Commissioner"/>
                <a:sym typeface="Commissioner"/>
              </a:rPr>
              <a:t>patch2, </a:t>
            </a:r>
            <a:r>
              <a:rPr b="1" lang="en-US" sz="1900">
                <a:solidFill>
                  <a:srgbClr val="DC2626"/>
                </a:solidFill>
                <a:latin typeface="Commissioner"/>
                <a:ea typeface="Commissioner"/>
                <a:cs typeface="Commissioner"/>
                <a:sym typeface="Commissioner"/>
              </a:rPr>
              <a:t>patch10, model: patch1, patch10, patch2</a:t>
            </a:r>
            <a:endParaRPr b="1" sz="1900">
              <a:solidFill>
                <a:srgbClr val="DC2626"/>
              </a:solidFill>
            </a:endParaRPr>
          </a:p>
        </p:txBody>
      </p:sp>
      <p:sp>
        <p:nvSpPr>
          <p:cNvPr id="620" name="Google Shape;620;h2c73c3ada47f7cb8_20_0"/>
          <p:cNvSpPr txBox="1"/>
          <p:nvPr/>
        </p:nvSpPr>
        <p:spPr>
          <a:xfrm>
            <a:off x="7660933" y="6009400"/>
            <a:ext cx="346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match_1, match_10, match_2</a:t>
            </a:r>
            <a:endParaRPr sz="1900"/>
          </a:p>
        </p:txBody>
      </p:sp>
      <p:cxnSp>
        <p:nvCxnSpPr>
          <p:cNvPr id="621" name="Google Shape;621;h2c73c3ada47f7cb8_20_0"/>
          <p:cNvCxnSpPr>
            <a:endCxn id="611" idx="0"/>
          </p:cNvCxnSpPr>
          <p:nvPr/>
        </p:nvCxnSpPr>
        <p:spPr>
          <a:xfrm>
            <a:off x="4297150" y="2816500"/>
            <a:ext cx="0" cy="2757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2" name="Google Shape;622;h2c73c3ada47f7cb8_20_0"/>
          <p:cNvCxnSpPr>
            <a:stCxn id="611" idx="2"/>
            <a:endCxn id="612" idx="0"/>
          </p:cNvCxnSpPr>
          <p:nvPr/>
        </p:nvCxnSpPr>
        <p:spPr>
          <a:xfrm>
            <a:off x="4297150" y="3765700"/>
            <a:ext cx="0" cy="2757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h2c73c3ada47f7cb8_20_0"/>
          <p:cNvCxnSpPr>
            <a:stCxn id="612" idx="2"/>
            <a:endCxn id="613" idx="0"/>
          </p:cNvCxnSpPr>
          <p:nvPr/>
        </p:nvCxnSpPr>
        <p:spPr>
          <a:xfrm>
            <a:off x="4297150" y="4714767"/>
            <a:ext cx="0" cy="2757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h2c73c3ada47f7cb8_20_0"/>
          <p:cNvCxnSpPr>
            <a:endCxn id="614" idx="0"/>
          </p:cNvCxnSpPr>
          <p:nvPr/>
        </p:nvCxnSpPr>
        <p:spPr>
          <a:xfrm>
            <a:off x="4297150" y="5663700"/>
            <a:ext cx="0" cy="2757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h2c73c3ada47f7cb8_20_0"/>
          <p:cNvCxnSpPr/>
          <p:nvPr/>
        </p:nvCxnSpPr>
        <p:spPr>
          <a:xfrm>
            <a:off x="6096000" y="949543"/>
            <a:ext cx="3600" cy="535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6" name="Google Shape;626;h2c73c3ada47f7cb8_20_0"/>
          <p:cNvSpPr/>
          <p:nvPr/>
        </p:nvSpPr>
        <p:spPr>
          <a:xfrm>
            <a:off x="1006000" y="290867"/>
            <a:ext cx="101799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Patch position to image file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_lookup_png_for_patch</a:t>
            </a:r>
            <a:endParaRPr sz="1900"/>
          </a:p>
        </p:txBody>
      </p:sp>
      <p:sp>
        <p:nvSpPr>
          <p:cNvPr id="627" name="Google Shape;627;h2c73c3ada47f7cb8_20_0"/>
          <p:cNvSpPr/>
          <p:nvPr/>
        </p:nvSpPr>
        <p:spPr>
          <a:xfrm>
            <a:off x="1493400" y="5057688"/>
            <a:ext cx="582300" cy="5388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DC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h2c73c3ada47f7cb8_20_70"/>
          <p:cNvSpPr/>
          <p:nvPr/>
        </p:nvSpPr>
        <p:spPr>
          <a:xfrm>
            <a:off x="1006000" y="3744567"/>
            <a:ext cx="45141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Return PNG path</a:t>
            </a:r>
            <a:endParaRPr sz="1900"/>
          </a:p>
        </p:txBody>
      </p:sp>
      <p:sp>
        <p:nvSpPr>
          <p:cNvPr id="633" name="Google Shape;633;h2c73c3ada47f7cb8_20_70"/>
          <p:cNvSpPr/>
          <p:nvPr/>
        </p:nvSpPr>
        <p:spPr>
          <a:xfrm>
            <a:off x="1006000" y="290867"/>
            <a:ext cx="101799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Pick by position (in lookup)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slice_ids_sorted[slice_idx], files[patch_idx]</a:t>
            </a:r>
            <a:endParaRPr sz="1900"/>
          </a:p>
        </p:txBody>
      </p:sp>
      <p:sp>
        <p:nvSpPr>
          <p:cNvPr id="634" name="Google Shape;634;h2c73c3ada47f7cb8_20_70"/>
          <p:cNvSpPr/>
          <p:nvPr/>
        </p:nvSpPr>
        <p:spPr>
          <a:xfrm>
            <a:off x="6671967" y="2593333"/>
            <a:ext cx="45141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Fallback: index PNG folder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_build_png_index_for_case_stain</a:t>
            </a:r>
            <a:endParaRPr sz="1900"/>
          </a:p>
        </p:txBody>
      </p:sp>
      <p:sp>
        <p:nvSpPr>
          <p:cNvPr id="635" name="Google Shape;635;h2c73c3ada47f7cb8_20_70"/>
          <p:cNvSpPr/>
          <p:nvPr/>
        </p:nvSpPr>
        <p:spPr>
          <a:xfrm>
            <a:off x="6671967" y="3744567"/>
            <a:ext cx="45141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File found?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slice and patch in range</a:t>
            </a:r>
            <a:endParaRPr sz="1900"/>
          </a:p>
        </p:txBody>
      </p:sp>
      <p:sp>
        <p:nvSpPr>
          <p:cNvPr id="636" name="Google Shape;636;h2c73c3ada47f7cb8_20_70"/>
          <p:cNvSpPr/>
          <p:nvPr/>
        </p:nvSpPr>
        <p:spPr>
          <a:xfrm>
            <a:off x="1006000" y="2593333"/>
            <a:ext cx="45141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PNG file exists?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os.path.exists</a:t>
            </a:r>
            <a:endParaRPr sz="1900"/>
          </a:p>
        </p:txBody>
      </p:sp>
      <p:sp>
        <p:nvSpPr>
          <p:cNvPr id="637" name="Google Shape;637;h2c73c3ada47f7cb8_20_70"/>
          <p:cNvSpPr/>
          <p:nvPr/>
        </p:nvSpPr>
        <p:spPr>
          <a:xfrm>
            <a:off x="1006000" y="5903900"/>
            <a:ext cx="101799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Caller shows the result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PNG: tissue image, None: tensor heatmap</a:t>
            </a:r>
            <a:endParaRPr sz="1900"/>
          </a:p>
        </p:txBody>
      </p:sp>
      <p:cxnSp>
        <p:nvCxnSpPr>
          <p:cNvPr id="638" name="Google Shape;638;h2c73c3ada47f7cb8_20_70"/>
          <p:cNvCxnSpPr>
            <a:stCxn id="633" idx="2"/>
            <a:endCxn id="639" idx="0"/>
          </p:cNvCxnSpPr>
          <p:nvPr/>
        </p:nvCxnSpPr>
        <p:spPr>
          <a:xfrm>
            <a:off x="6095950" y="1056767"/>
            <a:ext cx="0" cy="385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h2c73c3ada47f7cb8_20_70"/>
          <p:cNvCxnSpPr/>
          <p:nvPr/>
        </p:nvCxnSpPr>
        <p:spPr>
          <a:xfrm flipH="1">
            <a:off x="3262867" y="1985500"/>
            <a:ext cx="10500" cy="607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" name="Google Shape;639;h2c73c3ada47f7cb8_20_70"/>
          <p:cNvSpPr/>
          <p:nvPr/>
        </p:nvSpPr>
        <p:spPr>
          <a:xfrm>
            <a:off x="1006000" y="1442100"/>
            <a:ext cx="101799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.pt name to .png path</a:t>
            </a:r>
            <a:endParaRPr b="1" sz="19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_map_pt_to_png_path</a:t>
            </a:r>
            <a:endParaRPr sz="1900"/>
          </a:p>
        </p:txBody>
      </p:sp>
      <p:cxnSp>
        <p:nvCxnSpPr>
          <p:cNvPr id="641" name="Google Shape;641;h2c73c3ada47f7cb8_20_70"/>
          <p:cNvCxnSpPr>
            <a:stCxn id="636" idx="2"/>
            <a:endCxn id="632" idx="0"/>
          </p:cNvCxnSpPr>
          <p:nvPr/>
        </p:nvCxnSpPr>
        <p:spPr>
          <a:xfrm>
            <a:off x="3263050" y="3359233"/>
            <a:ext cx="0" cy="385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h2c73c3ada47f7cb8_20_70"/>
          <p:cNvCxnSpPr>
            <a:stCxn id="636" idx="3"/>
            <a:endCxn id="634" idx="1"/>
          </p:cNvCxnSpPr>
          <p:nvPr/>
        </p:nvCxnSpPr>
        <p:spPr>
          <a:xfrm>
            <a:off x="5520100" y="2976283"/>
            <a:ext cx="11520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h2c73c3ada47f7cb8_20_70"/>
          <p:cNvCxnSpPr>
            <a:stCxn id="634" idx="2"/>
            <a:endCxn id="635" idx="0"/>
          </p:cNvCxnSpPr>
          <p:nvPr/>
        </p:nvCxnSpPr>
        <p:spPr>
          <a:xfrm>
            <a:off x="8929017" y="3359233"/>
            <a:ext cx="0" cy="385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h2c73c3ada47f7cb8_20_70"/>
          <p:cNvCxnSpPr>
            <a:stCxn id="635" idx="1"/>
            <a:endCxn id="632" idx="3"/>
          </p:cNvCxnSpPr>
          <p:nvPr/>
        </p:nvCxnSpPr>
        <p:spPr>
          <a:xfrm rot="10800000">
            <a:off x="5519967" y="4127517"/>
            <a:ext cx="11520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h2c73c3ada47f7cb8_20_70"/>
          <p:cNvCxnSpPr>
            <a:stCxn id="635" idx="2"/>
            <a:endCxn id="646" idx="0"/>
          </p:cNvCxnSpPr>
          <p:nvPr/>
        </p:nvCxnSpPr>
        <p:spPr>
          <a:xfrm>
            <a:off x="8929017" y="4510467"/>
            <a:ext cx="0" cy="3138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7" name="Google Shape;647;h2c73c3ada47f7cb8_20_70"/>
          <p:cNvCxnSpPr/>
          <p:nvPr/>
        </p:nvCxnSpPr>
        <p:spPr>
          <a:xfrm flipH="1">
            <a:off x="8923667" y="5296300"/>
            <a:ext cx="10500" cy="607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6" name="Google Shape;646;h2c73c3ada47f7cb8_20_70"/>
          <p:cNvSpPr/>
          <p:nvPr/>
        </p:nvSpPr>
        <p:spPr>
          <a:xfrm>
            <a:off x="6671967" y="4824233"/>
            <a:ext cx="4514100" cy="765900"/>
          </a:xfrm>
          <a:prstGeom prst="roundRect">
            <a:avLst>
              <a:gd fmla="val 16667" name="adj"/>
            </a:avLst>
          </a:prstGeom>
          <a:solidFill>
            <a:srgbClr val="F4D9FF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Return None</a:t>
            </a:r>
            <a:endParaRPr sz="1900"/>
          </a:p>
        </p:txBody>
      </p:sp>
      <p:cxnSp>
        <p:nvCxnSpPr>
          <p:cNvPr id="648" name="Google Shape;648;h2c73c3ada47f7cb8_20_70"/>
          <p:cNvCxnSpPr/>
          <p:nvPr/>
        </p:nvCxnSpPr>
        <p:spPr>
          <a:xfrm>
            <a:off x="3263000" y="4528454"/>
            <a:ext cx="10500" cy="1338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h2c73c3ada47f7cb8_20_70"/>
          <p:cNvSpPr txBox="1"/>
          <p:nvPr/>
        </p:nvSpPr>
        <p:spPr>
          <a:xfrm>
            <a:off x="5519942" y="2483679"/>
            <a:ext cx="115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No</a:t>
            </a:r>
            <a:endParaRPr sz="1600"/>
          </a:p>
        </p:txBody>
      </p:sp>
      <p:sp>
        <p:nvSpPr>
          <p:cNvPr id="650" name="Google Shape;650;h2c73c3ada47f7cb8_20_70"/>
          <p:cNvSpPr txBox="1"/>
          <p:nvPr/>
        </p:nvSpPr>
        <p:spPr>
          <a:xfrm>
            <a:off x="5520033" y="3634924"/>
            <a:ext cx="115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Yes</a:t>
            </a:r>
            <a:endParaRPr sz="1600"/>
          </a:p>
        </p:txBody>
      </p:sp>
      <p:sp>
        <p:nvSpPr>
          <p:cNvPr id="651" name="Google Shape;651;h2c73c3ada47f7cb8_20_70"/>
          <p:cNvSpPr txBox="1"/>
          <p:nvPr/>
        </p:nvSpPr>
        <p:spPr>
          <a:xfrm>
            <a:off x="3262882" y="3314437"/>
            <a:ext cx="115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Yes</a:t>
            </a:r>
            <a:endParaRPr sz="1600"/>
          </a:p>
        </p:txBody>
      </p:sp>
      <p:sp>
        <p:nvSpPr>
          <p:cNvPr id="652" name="Google Shape;652;h2c73c3ada47f7cb8_20_70"/>
          <p:cNvSpPr txBox="1"/>
          <p:nvPr/>
        </p:nvSpPr>
        <p:spPr>
          <a:xfrm>
            <a:off x="8717344" y="4385258"/>
            <a:ext cx="115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No</a:t>
            </a:r>
            <a:endParaRPr sz="1600"/>
          </a:p>
        </p:txBody>
      </p:sp>
      <p:sp>
        <p:nvSpPr>
          <p:cNvPr id="653" name="Google Shape;653;h2c73c3ada47f7cb8_20_70"/>
          <p:cNvSpPr/>
          <p:nvPr/>
        </p:nvSpPr>
        <p:spPr>
          <a:xfrm>
            <a:off x="10588707" y="2625882"/>
            <a:ext cx="582300" cy="5388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DC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6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h5700883c2e2d77ae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Model Execution - Statistics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h5700883c2e2d77ae_0_0"/>
          <p:cNvSpPr txBox="1"/>
          <p:nvPr>
            <p:ph idx="1" type="body"/>
          </p:nvPr>
        </p:nvSpPr>
        <p:spPr>
          <a:xfrm>
            <a:off x="838200" y="1825625"/>
            <a:ext cx="10515600" cy="356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run_20261020_225948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18 </a:t>
            </a:r>
            <a:r>
              <a:rPr lang="en-US" sz="2000"/>
              <a:t>Test Cases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94.4%</a:t>
            </a:r>
            <a:r>
              <a:rPr lang="en-US" sz="2000"/>
              <a:t> Accuracy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11</a:t>
            </a:r>
            <a:r>
              <a:rPr lang="en-US" sz="2000"/>
              <a:t> correctly classified high-grade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6</a:t>
            </a:r>
            <a:r>
              <a:rPr lang="en-US" sz="2000"/>
              <a:t> correctly classified benign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0</a:t>
            </a:r>
            <a:r>
              <a:rPr lang="en-US" sz="2000"/>
              <a:t> incorrectly classified high-grade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1</a:t>
            </a:r>
            <a:r>
              <a:rPr lang="en-US" sz="2000"/>
              <a:t> incorrectly classified </a:t>
            </a:r>
            <a:r>
              <a:rPr lang="en-US" sz="2000"/>
              <a:t>benign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Note: Use 8GB ram for splits and 32GB for running the model</a:t>
            </a:r>
            <a:endParaRPr sz="2000"/>
          </a:p>
        </p:txBody>
      </p:sp>
      <p:sp>
        <p:nvSpPr>
          <p:cNvPr id="660" name="Google Shape;660;h5700883c2e2d77ae_0_0"/>
          <p:cNvSpPr txBox="1"/>
          <p:nvPr>
            <p:ph idx="1" type="body"/>
          </p:nvPr>
        </p:nvSpPr>
        <p:spPr>
          <a:xfrm>
            <a:off x="838200" y="5711475"/>
            <a:ext cx="10515600" cy="56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https://github.com/arvindkrishna87/Team4_TheAnalysts/tree/main/Presentation1/Presentation1_base_code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h6fe8d21487faccb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Model Execution - Output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h6fe8d21487faccbb_0_0"/>
          <p:cNvSpPr txBox="1"/>
          <p:nvPr>
            <p:ph idx="1" type="body"/>
          </p:nvPr>
        </p:nvSpPr>
        <p:spPr>
          <a:xfrm>
            <a:off x="838200" y="1825625"/>
            <a:ext cx="10515600" cy="478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5409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550"/>
              <a:t>Case Level:</a:t>
            </a:r>
            <a:r>
              <a:rPr lang="en-US" sz="2550"/>
              <a:t> Visualizes top 8 and bottom 8 patches across all stains and slices using effective attention weights </a:t>
            </a:r>
            <a:endParaRPr sz="2550"/>
          </a:p>
          <a:p>
            <a:pPr indent="-35409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550"/>
              <a:t>Slice Level:</a:t>
            </a:r>
            <a:r>
              <a:rPr lang="en-US" sz="2550"/>
              <a:t> Visualizes the 8 highest-attention patches from the most important slice and the 8 lowest-attention patches from the least important slice for each stain </a:t>
            </a:r>
            <a:endParaRPr sz="2550"/>
          </a:p>
          <a:p>
            <a:pPr indent="-35409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550"/>
              <a:t>Stain Level:</a:t>
            </a:r>
            <a:r>
              <a:rPr lang="en-US" sz="2550"/>
              <a:t> No dedicated top/bottom patch visualization across all slices within each stain</a:t>
            </a:r>
            <a:endParaRPr sz="2550"/>
          </a:p>
          <a:p>
            <a:pPr indent="-35409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550"/>
              <a:t>Additional Outputs:</a:t>
            </a:r>
            <a:endParaRPr b="1" sz="2550"/>
          </a:p>
          <a:p>
            <a:pPr indent="-35409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550"/>
              <a:t>Effective Patch Attention Distribution:</a:t>
            </a:r>
            <a:r>
              <a:rPr lang="en-US" sz="2550"/>
              <a:t> Histogram of effective attention weights across all patches within each case, highlighting concentration of attention</a:t>
            </a:r>
            <a:endParaRPr sz="2550"/>
          </a:p>
          <a:p>
            <a:pPr indent="-35409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550"/>
              <a:t>Slice Attention Distribution by Stain:</a:t>
            </a:r>
            <a:r>
              <a:rPr lang="en-US" sz="2550"/>
              <a:t> Ranked slice attention weights within each stain, showing which slices receive the most attention</a:t>
            </a:r>
            <a:endParaRPr sz="255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h6fe8d21487faccbb_0_6"/>
          <p:cNvSpPr txBox="1"/>
          <p:nvPr>
            <p:ph type="title"/>
          </p:nvPr>
        </p:nvSpPr>
        <p:spPr>
          <a:xfrm>
            <a:off x="838200" y="365125"/>
            <a:ext cx="130062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5 - Correctly Classified High-Grade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(Patch Level)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2" name="Google Shape;672;h6fe8d21487faccbb_0_6" title="case_5_top_effective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8725"/>
            <a:ext cx="11887201" cy="479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h6fe8d21487faccbb_0_13"/>
          <p:cNvSpPr txBox="1"/>
          <p:nvPr>
            <p:ph type="title"/>
          </p:nvPr>
        </p:nvSpPr>
        <p:spPr>
          <a:xfrm>
            <a:off x="838200" y="365125"/>
            <a:ext cx="12192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5 - Correctly Classified High-Grade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(Patch Level)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8" name="Google Shape;678;h6fe8d21487faccbb_0_13" title="case_5_bottom_effective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4925"/>
            <a:ext cx="11887201" cy="4800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h6fe8d21487faccbb_0_19"/>
          <p:cNvSpPr txBox="1"/>
          <p:nvPr>
            <p:ph type="title"/>
          </p:nvPr>
        </p:nvSpPr>
        <p:spPr>
          <a:xfrm>
            <a:off x="838200" y="365125"/>
            <a:ext cx="11353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5 - Correctly Classified High-Grade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(Slice Level)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4" name="Google Shape;684;h6fe8d21487faccbb_0_19" title="case_5_h&amp;e_slice0_top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5725"/>
            <a:ext cx="11887201" cy="482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h6fe8d21487faccbb_0_25"/>
          <p:cNvSpPr txBox="1"/>
          <p:nvPr>
            <p:ph type="title"/>
          </p:nvPr>
        </p:nvSpPr>
        <p:spPr>
          <a:xfrm>
            <a:off x="838200" y="365125"/>
            <a:ext cx="118872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25 - Correctly Classified Benign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(Patch Level)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0" name="Google Shape;690;h6fe8d21487faccbb_0_25" title="case_25_top_effective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9225"/>
            <a:ext cx="11887201" cy="4805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h6fe8d21487faccbb_0_32"/>
          <p:cNvSpPr txBox="1"/>
          <p:nvPr>
            <p:ph type="title"/>
          </p:nvPr>
        </p:nvSpPr>
        <p:spPr>
          <a:xfrm>
            <a:off x="838200" y="365125"/>
            <a:ext cx="11850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25 - Correctly Classified Benign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(Patch Level)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6" name="Google Shape;696;h6fe8d21487faccbb_0_32" title="case_25_bottom_effective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51431"/>
            <a:ext cx="12192000" cy="492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h6fe8d21487faccbb_0_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25 - Correctly Classified Benign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(Slice Level)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2" name="Google Shape;702;h6fe8d21487faccbb_0_38" title="case_25_h&amp;e_slice1_top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0825"/>
            <a:ext cx="11887201" cy="4823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6fe8d21487faccbb_0_44"/>
          <p:cNvSpPr txBox="1"/>
          <p:nvPr>
            <p:ph type="title"/>
          </p:nvPr>
        </p:nvSpPr>
        <p:spPr>
          <a:xfrm>
            <a:off x="838200" y="365125"/>
            <a:ext cx="118872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56 - Incorrectly Classified Benign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(Patch Level)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8" name="Google Shape;708;h6fe8d21487faccbb_0_44" title="case_56_top_effective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0825"/>
            <a:ext cx="11887201" cy="4805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h6fe8d21487faccbb_0_49"/>
          <p:cNvSpPr txBox="1"/>
          <p:nvPr>
            <p:ph type="title"/>
          </p:nvPr>
        </p:nvSpPr>
        <p:spPr>
          <a:xfrm>
            <a:off x="838200" y="365125"/>
            <a:ext cx="11850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56 - Incorrectly Classified Benign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(Patch Level)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4" name="Google Shape;714;h6fe8d21487faccbb_0_49" title="case_56_bottom_effective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3206"/>
            <a:ext cx="12192000" cy="492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h6fe8d21487faccbb_0_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 56 - Incorrectly Classified Benign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(Slice Level)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0" name="Google Shape;720;h6fe8d21487faccbb_0_54" title="case_56_h&amp;e_slice1_top_p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0825"/>
            <a:ext cx="11887201" cy="482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h2c73c3ada47f7cb8_18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Observations and Recommendations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h2c73c3ada47f7cb8_18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607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 sz="2000"/>
              <a:t>Normalized Attention Weights:</a:t>
            </a:r>
            <a:r>
              <a:rPr lang="en-US" sz="2000"/>
              <a:t> Softmax ensures attention weights sum to 1, allowing relative importance to be compared across patches</a:t>
            </a:r>
            <a:endParaRPr b="1" sz="2000"/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 sz="2000"/>
              <a:t>Expand Stain-Level Visualization:</a:t>
            </a:r>
            <a:r>
              <a:rPr lang="en-US" sz="2000"/>
              <a:t> Generate bar charts comparing normalized at</a:t>
            </a:r>
            <a:r>
              <a:rPr lang="en-US" sz="2000"/>
              <a:t>tention weights across H&amp;E, Melan, and SOX10 to identify which stains receive the most attention in each case</a:t>
            </a:r>
            <a:endParaRPr sz="2000"/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 sz="2000"/>
              <a:t>Evaluate Attention Distribution</a:t>
            </a:r>
            <a:r>
              <a:rPr lang="en-US" sz="2000"/>
              <a:t>: Examine whether attention is overly concentrated in a small number of patches, slices, or stains, potentially limiting the model's ability to capture broader information</a:t>
            </a:r>
            <a:endParaRPr sz="2000"/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 sz="2000"/>
              <a:t>Investigate Visualization Quality</a:t>
            </a:r>
            <a:r>
              <a:rPr lang="en-US" sz="2000"/>
              <a:t>: Examine why some high-attention patches appear blurry while low-attention patches appear clearer, and assess whether this reflects meaningful diagnostic features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h2c73c3ada47f7cb8_1_5"/>
          <p:cNvGrpSpPr/>
          <p:nvPr/>
        </p:nvGrpSpPr>
        <p:grpSpPr>
          <a:xfrm>
            <a:off x="1143000" y="1524000"/>
            <a:ext cx="10265700" cy="3810000"/>
            <a:chOff x="0" y="0"/>
            <a:chExt cx="10265700" cy="3810000"/>
          </a:xfrm>
        </p:grpSpPr>
        <p:sp>
          <p:nvSpPr>
            <p:cNvPr id="732" name="Google Shape;732;h2c73c3ada47f7cb8_1_5"/>
            <p:cNvSpPr/>
            <p:nvPr/>
          </p:nvSpPr>
          <p:spPr>
            <a:xfrm>
              <a:off x="0" y="0"/>
              <a:ext cx="9906000" cy="3810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h2c73c3ada47f7cb8_1_5"/>
            <p:cNvSpPr/>
            <p:nvPr/>
          </p:nvSpPr>
          <p:spPr>
            <a:xfrm>
              <a:off x="0" y="0"/>
              <a:ext cx="9906000" cy="762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h2c73c3ada47f7cb8_1_5"/>
            <p:cNvSpPr txBox="1"/>
            <p:nvPr/>
          </p:nvSpPr>
          <p:spPr>
            <a:xfrm>
              <a:off x="571500" y="571500"/>
              <a:ext cx="969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Manrope"/>
                  <a:ea typeface="Manrope"/>
                  <a:cs typeface="Manrope"/>
                  <a:sym typeface="Manrope"/>
                </a:rPr>
                <a:t>Consultant</a:t>
              </a:r>
              <a:endParaRPr b="1" sz="1400">
                <a:solidFill>
                  <a:srgbClr val="2563EB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3100">
                  <a:solidFill>
                    <a:srgbClr val="111827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Hortense Ineza Mutamba, Alzaharaa Alzaabi</a:t>
              </a:r>
              <a:endParaRPr b="0" sz="31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h2c73c3ada47f7cb8_1_15"/>
          <p:cNvSpPr txBox="1"/>
          <p:nvPr>
            <p:ph type="ctrTitle"/>
          </p:nvPr>
        </p:nvSpPr>
        <p:spPr>
          <a:xfrm>
            <a:off x="635000" y="508000"/>
            <a:ext cx="109221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131313"/>
                </a:solidFill>
                <a:latin typeface="Manrope"/>
                <a:ea typeface="Manrope"/>
                <a:cs typeface="Manrope"/>
                <a:sym typeface="Manrope"/>
              </a:rPr>
              <a:t>Problem &amp; Clinical Goal</a:t>
            </a:r>
            <a:endParaRPr b="1" sz="4300">
              <a:solidFill>
                <a:srgbClr val="13131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40" name="Google Shape;740;h2c73c3ada47f7cb8_1_15"/>
          <p:cNvGrpSpPr/>
          <p:nvPr/>
        </p:nvGrpSpPr>
        <p:grpSpPr>
          <a:xfrm>
            <a:off x="635000" y="1587500"/>
            <a:ext cx="3429114" cy="4317892"/>
            <a:chOff x="0" y="0"/>
            <a:chExt cx="2571900" cy="3238500"/>
          </a:xfrm>
        </p:grpSpPr>
        <p:sp>
          <p:nvSpPr>
            <p:cNvPr id="741" name="Google Shape;741;h2c73c3ada47f7cb8_1_15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h2c73c3ada47f7cb8_1_15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6B72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h2c73c3ada47f7cb8_1_15"/>
            <p:cNvSpPr txBox="1"/>
            <p:nvPr/>
          </p:nvSpPr>
          <p:spPr>
            <a:xfrm>
              <a:off x="190500" y="228600"/>
              <a:ext cx="21909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B7280"/>
                  </a:solidFill>
                  <a:latin typeface="Manrope"/>
                  <a:ea typeface="Manrope"/>
                  <a:cs typeface="Manrope"/>
                  <a:sym typeface="Manrope"/>
                </a:rPr>
                <a:t>01. Context &amp; Task</a:t>
              </a:r>
              <a:endParaRPr b="1" sz="1300">
                <a:solidFill>
                  <a:srgbClr val="6B7280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Tissue Classification</a:t>
              </a:r>
              <a:endParaRPr b="1" sz="24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Classify eye-tissue samples into </a:t>
              </a:r>
              <a:r>
                <a:rPr b="1" lang="en-US" sz="15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benign</a:t>
              </a:r>
              <a:r>
                <a:rPr lang="en-US" sz="15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(normal) or </a:t>
              </a:r>
              <a:r>
                <a:rPr b="1" lang="en-US" sz="1500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high-grade</a:t>
              </a:r>
              <a:r>
                <a:rPr lang="en-US" sz="15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(abnormal, needs treatment) using microscope images of conjunctival tissue.</a:t>
              </a:r>
              <a:endParaRPr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Specifically analyzes </a:t>
              </a:r>
              <a:r>
                <a:rPr b="1" lang="en-US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melanocytes</a:t>
              </a:r>
              <a:r>
                <a:rPr lang="en-US" sz="15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 (pigment cells) to check if they remain at the tissue base or have spread throughout.</a:t>
              </a:r>
              <a:endParaRPr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4" name="Google Shape;744;h2c73c3ada47f7cb8_1_15"/>
          <p:cNvGrpSpPr/>
          <p:nvPr/>
        </p:nvGrpSpPr>
        <p:grpSpPr>
          <a:xfrm>
            <a:off x="4381500" y="1587500"/>
            <a:ext cx="3429114" cy="4317892"/>
            <a:chOff x="0" y="0"/>
            <a:chExt cx="2571900" cy="3238500"/>
          </a:xfrm>
        </p:grpSpPr>
        <p:sp>
          <p:nvSpPr>
            <p:cNvPr id="745" name="Google Shape;745;h2c73c3ada47f7cb8_1_15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h2c73c3ada47f7cb8_1_15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h2c73c3ada47f7cb8_1_15"/>
            <p:cNvSpPr txBox="1"/>
            <p:nvPr/>
          </p:nvSpPr>
          <p:spPr>
            <a:xfrm>
              <a:off x="190500" y="228600"/>
              <a:ext cx="21909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EF4444"/>
                  </a:solidFill>
                  <a:latin typeface="Manrope"/>
                  <a:ea typeface="Manrope"/>
                  <a:cs typeface="Manrope"/>
                  <a:sym typeface="Manrope"/>
                </a:rPr>
                <a:t>02. The Challenge</a:t>
              </a:r>
              <a:endParaRPr b="1" sz="1300">
                <a:solidFill>
                  <a:srgbClr val="EF4444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Inconsistent Diagnosis</a:t>
              </a:r>
              <a:endParaRPr b="1" sz="24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0" lang="en-US" sz="4300">
                  <a:solidFill>
                    <a:srgbClr val="DC2626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~39%</a:t>
              </a:r>
              <a:endParaRPr b="0" sz="4300">
                <a:solidFill>
                  <a:srgbClr val="DC2626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  <a:p>
              <a:pPr indent="0" lvl="0" marL="0" rtl="0" algn="ct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91B1B"/>
                  </a:solidFill>
                  <a:highlight>
                    <a:srgbClr val="FEF2F2"/>
                  </a:highlight>
                  <a:latin typeface="Manrope SemiBold"/>
                  <a:ea typeface="Manrope SemiBold"/>
                  <a:cs typeface="Manrope SemiBold"/>
                  <a:sym typeface="Manrope SemiBold"/>
                </a:rPr>
                <a:t>Expert agreement on borderline cases</a:t>
              </a:r>
              <a:endParaRPr b="0" sz="1300">
                <a:solidFill>
                  <a:srgbClr val="991B1B"/>
                </a:solidFill>
                <a:highlight>
                  <a:srgbClr val="FEF2F2"/>
                </a:highlight>
                <a:latin typeface="Manrope SemiBold"/>
                <a:ea typeface="Manrope SemiBold"/>
                <a:cs typeface="Manrope SemiBold"/>
                <a:sym typeface="Manrope Semi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Pathologists currently diagnose visually by eye, leading to significant subjectivity and variance between experts.</a:t>
              </a:r>
              <a:endParaRPr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8" name="Google Shape;748;h2c73c3ada47f7cb8_1_15"/>
          <p:cNvGrpSpPr/>
          <p:nvPr/>
        </p:nvGrpSpPr>
        <p:grpSpPr>
          <a:xfrm>
            <a:off x="8128000" y="1587500"/>
            <a:ext cx="3429114" cy="4317892"/>
            <a:chOff x="0" y="0"/>
            <a:chExt cx="2571900" cy="3238500"/>
          </a:xfrm>
        </p:grpSpPr>
        <p:sp>
          <p:nvSpPr>
            <p:cNvPr id="749" name="Google Shape;749;h2c73c3ada47f7cb8_1_15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h2c73c3ada47f7cb8_1_15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h2c73c3ada47f7cb8_1_15"/>
            <p:cNvSpPr txBox="1"/>
            <p:nvPr/>
          </p:nvSpPr>
          <p:spPr>
            <a:xfrm>
              <a:off x="190500" y="228600"/>
              <a:ext cx="21909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8B5CF6"/>
                  </a:solidFill>
                  <a:latin typeface="Manrope"/>
                  <a:ea typeface="Manrope"/>
                  <a:cs typeface="Manrope"/>
                  <a:sym typeface="Manrope"/>
                </a:rPr>
                <a:t>03. The Objective</a:t>
              </a:r>
              <a:endParaRPr b="1" sz="1300">
                <a:solidFill>
                  <a:srgbClr val="8B5CF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ML Second Opinion</a:t>
              </a:r>
              <a:endParaRPr b="1" sz="24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Build an automated machine-learning model to assist pathologists during clinical evaluation.</a:t>
              </a:r>
              <a:endParaRPr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6D28D9"/>
                  </a:solidFill>
                  <a:highlight>
                    <a:srgbClr val="F5F3FF"/>
                  </a:highlight>
                  <a:latin typeface="Manrope"/>
                  <a:ea typeface="Manrope"/>
                  <a:cs typeface="Manrope"/>
                  <a:sym typeface="Manrope"/>
                </a:rPr>
                <a:t>Key Benefits:</a:t>
              </a:r>
              <a:endParaRPr b="1" sz="1500">
                <a:solidFill>
                  <a:srgbClr val="6D28D9"/>
                </a:solidFill>
                <a:highlight>
                  <a:srgbClr val="F5F3FF"/>
                </a:highlight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C1D95"/>
                  </a:solidFill>
                  <a:highlight>
                    <a:srgbClr val="F5F3FF"/>
                  </a:highlight>
                  <a:latin typeface="Arial"/>
                  <a:ea typeface="Arial"/>
                  <a:cs typeface="Arial"/>
                  <a:sym typeface="Arial"/>
                </a:rPr>
                <a:t>• Consistent diagnostic standard</a:t>
              </a:r>
              <a:endParaRPr sz="1300">
                <a:solidFill>
                  <a:srgbClr val="4C1D95"/>
                </a:solidFill>
                <a:highlight>
                  <a:srgbClr val="F5F3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C1D95"/>
                  </a:solidFill>
                  <a:highlight>
                    <a:srgbClr val="F5F3FF"/>
                  </a:highlight>
                  <a:latin typeface="Arial"/>
                  <a:ea typeface="Arial"/>
                  <a:cs typeface="Arial"/>
                  <a:sym typeface="Arial"/>
                </a:rPr>
                <a:t>• Reproducible decision support</a:t>
              </a:r>
              <a:endParaRPr sz="1300">
                <a:solidFill>
                  <a:srgbClr val="4C1D95"/>
                </a:solidFill>
                <a:highlight>
                  <a:srgbClr val="F5F3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2c73c3ada47f7cb8_1_1904"/>
          <p:cNvSpPr txBox="1"/>
          <p:nvPr>
            <p:ph type="ctrTitle"/>
          </p:nvPr>
        </p:nvSpPr>
        <p:spPr>
          <a:xfrm>
            <a:off x="635000" y="508000"/>
            <a:ext cx="10922100" cy="69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131313"/>
                </a:solidFill>
                <a:latin typeface="Manrope"/>
                <a:ea typeface="Manrope"/>
                <a:cs typeface="Manrope"/>
                <a:sym typeface="Manrope"/>
              </a:rPr>
              <a:t>Pipeline &amp; Methodology </a:t>
            </a:r>
            <a:r>
              <a:rPr b="0" lang="en-US" sz="2700">
                <a:solidFill>
                  <a:srgbClr val="6B728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(Non-Coder Overview)</a:t>
            </a:r>
            <a:endParaRPr b="1" sz="4300">
              <a:solidFill>
                <a:srgbClr val="13131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57" name="Google Shape;757;h2c73c3ada47f7cb8_1_1904"/>
          <p:cNvGrpSpPr/>
          <p:nvPr/>
        </p:nvGrpSpPr>
        <p:grpSpPr>
          <a:xfrm>
            <a:off x="635000" y="1460500"/>
            <a:ext cx="5270268" cy="2349541"/>
            <a:chOff x="0" y="0"/>
            <a:chExt cx="3952800" cy="1762200"/>
          </a:xfrm>
        </p:grpSpPr>
        <p:sp>
          <p:nvSpPr>
            <p:cNvPr id="758" name="Google Shape;758;h2c73c3ada47f7cb8_1_1904"/>
            <p:cNvSpPr/>
            <p:nvPr/>
          </p:nvSpPr>
          <p:spPr>
            <a:xfrm>
              <a:off x="0" y="0"/>
              <a:ext cx="3952800" cy="1762200"/>
            </a:xfrm>
            <a:prstGeom prst="roundRect">
              <a:avLst>
                <a:gd fmla="val 7567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h2c73c3ada47f7cb8_1_1904"/>
            <p:cNvSpPr/>
            <p:nvPr/>
          </p:nvSpPr>
          <p:spPr>
            <a:xfrm>
              <a:off x="0" y="0"/>
              <a:ext cx="39528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h2c73c3ada47f7cb8_1_1904"/>
            <p:cNvSpPr txBox="1"/>
            <p:nvPr/>
          </p:nvSpPr>
          <p:spPr>
            <a:xfrm>
              <a:off x="0" y="0"/>
              <a:ext cx="3952800" cy="17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Manrope"/>
                  <a:ea typeface="Manrope"/>
                  <a:cs typeface="Manrope"/>
                  <a:sym typeface="Manrope"/>
                </a:rPr>
                <a:t>01. VISUAL PIPELINE</a:t>
              </a:r>
              <a:endParaRPr b="1" sz="1200">
                <a:solidFill>
                  <a:srgbClr val="2563EB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The Big Picture</a:t>
              </a:r>
              <a:endParaRPr b="1" sz="1200">
                <a:solidFill>
                  <a:srgbClr val="2563EB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Microscope tissue images are sliced into small square patches, converted into numeric summaries, and combined across patches and stains to reach a final diagnosis: </a:t>
              </a:r>
              <a:r>
                <a:rPr b="1" lang="en-US" sz="14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benign</a:t>
              </a:r>
              <a:r>
                <a:rPr b="0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or </a:t>
              </a:r>
              <a:r>
                <a:rPr b="1" lang="en-US" sz="1400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high-grade</a:t>
              </a:r>
              <a:r>
                <a:rPr b="0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1" name="Google Shape;761;h2c73c3ada47f7cb8_1_1904"/>
          <p:cNvGrpSpPr/>
          <p:nvPr/>
        </p:nvGrpSpPr>
        <p:grpSpPr>
          <a:xfrm>
            <a:off x="6286500" y="1460500"/>
            <a:ext cx="5270268" cy="2349541"/>
            <a:chOff x="0" y="0"/>
            <a:chExt cx="3952800" cy="1762200"/>
          </a:xfrm>
        </p:grpSpPr>
        <p:sp>
          <p:nvSpPr>
            <p:cNvPr id="762" name="Google Shape;762;h2c73c3ada47f7cb8_1_1904"/>
            <p:cNvSpPr/>
            <p:nvPr/>
          </p:nvSpPr>
          <p:spPr>
            <a:xfrm>
              <a:off x="0" y="0"/>
              <a:ext cx="3952800" cy="1762200"/>
            </a:xfrm>
            <a:prstGeom prst="roundRect">
              <a:avLst>
                <a:gd fmla="val 7567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h2c73c3ada47f7cb8_1_1904"/>
            <p:cNvSpPr/>
            <p:nvPr/>
          </p:nvSpPr>
          <p:spPr>
            <a:xfrm>
              <a:off x="0" y="0"/>
              <a:ext cx="39528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h2c73c3ada47f7cb8_1_1904"/>
            <p:cNvSpPr txBox="1"/>
            <p:nvPr/>
          </p:nvSpPr>
          <p:spPr>
            <a:xfrm>
              <a:off x="0" y="0"/>
              <a:ext cx="3952800" cy="17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8B5CF6"/>
                  </a:solidFill>
                  <a:latin typeface="Manrope"/>
                  <a:ea typeface="Manrope"/>
                  <a:cs typeface="Manrope"/>
                  <a:sym typeface="Manrope"/>
                </a:rPr>
                <a:t>02. EXPERIMENTAL DESIGN</a:t>
              </a:r>
              <a:endParaRPr b="1" sz="1200">
                <a:solidFill>
                  <a:srgbClr val="8B5CF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5-Fold Cross-Validation</a:t>
              </a:r>
              <a:endParaRPr b="1" sz="1200">
                <a:solidFill>
                  <a:srgbClr val="8B5CF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The 93 patient cases are split into 5 equal groups (“folds”). In 5 rotating runs, 4 groups teach the model while 1 is held back for testing</a:t>
              </a:r>
              <a:r>
                <a:rPr lang="en-US" sz="1400">
                  <a:solidFill>
                    <a:srgbClr val="374151"/>
                  </a:solidFill>
                </a:rPr>
                <a:t>, </a:t>
              </a:r>
              <a:r>
                <a:rPr b="0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ensuring every case is tested once without overlap.</a:t>
              </a:r>
              <a:endParaRPr b="0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5" name="Google Shape;765;h2c73c3ada47f7cb8_1_1904"/>
          <p:cNvGrpSpPr/>
          <p:nvPr/>
        </p:nvGrpSpPr>
        <p:grpSpPr>
          <a:xfrm>
            <a:off x="635000" y="4064000"/>
            <a:ext cx="5270268" cy="2349541"/>
            <a:chOff x="0" y="0"/>
            <a:chExt cx="3952800" cy="1762200"/>
          </a:xfrm>
        </p:grpSpPr>
        <p:sp>
          <p:nvSpPr>
            <p:cNvPr id="766" name="Google Shape;766;h2c73c3ada47f7cb8_1_1904"/>
            <p:cNvSpPr/>
            <p:nvPr/>
          </p:nvSpPr>
          <p:spPr>
            <a:xfrm>
              <a:off x="0" y="0"/>
              <a:ext cx="3952800" cy="1762200"/>
            </a:xfrm>
            <a:prstGeom prst="roundRect">
              <a:avLst>
                <a:gd fmla="val 7567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h2c73c3ada47f7cb8_1_1904"/>
            <p:cNvSpPr/>
            <p:nvPr/>
          </p:nvSpPr>
          <p:spPr>
            <a:xfrm>
              <a:off x="0" y="0"/>
              <a:ext cx="39528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h2c73c3ada47f7cb8_1_1904"/>
            <p:cNvSpPr txBox="1"/>
            <p:nvPr/>
          </p:nvSpPr>
          <p:spPr>
            <a:xfrm>
              <a:off x="0" y="0"/>
              <a:ext cx="3952800" cy="17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97706"/>
                  </a:solidFill>
                  <a:latin typeface="Manrope"/>
                  <a:ea typeface="Manrope"/>
                  <a:cs typeface="Manrope"/>
                  <a:sym typeface="Manrope"/>
                </a:rPr>
                <a:t>03. METHOD RATIONALE</a:t>
              </a:r>
              <a:endParaRPr b="1" sz="1200">
                <a:solidFill>
                  <a:srgbClr val="D9770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Why Avoid Single Splits?</a:t>
              </a:r>
              <a:endParaRPr b="1" sz="1200">
                <a:solidFill>
                  <a:srgbClr val="D9770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With a small dataset of 93 cases, a single train/test split could be unusually lucky or unlucky by chance. Testing across 5 rotations and averaging gives a far more trustworthy performance estimate.</a:t>
              </a:r>
              <a:endParaRPr b="0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9" name="Google Shape;769;h2c73c3ada47f7cb8_1_1904"/>
          <p:cNvGrpSpPr/>
          <p:nvPr/>
        </p:nvGrpSpPr>
        <p:grpSpPr>
          <a:xfrm>
            <a:off x="6286500" y="4064000"/>
            <a:ext cx="5270268" cy="2349541"/>
            <a:chOff x="0" y="0"/>
            <a:chExt cx="3952800" cy="1762200"/>
          </a:xfrm>
        </p:grpSpPr>
        <p:sp>
          <p:nvSpPr>
            <p:cNvPr id="770" name="Google Shape;770;h2c73c3ada47f7cb8_1_1904"/>
            <p:cNvSpPr/>
            <p:nvPr/>
          </p:nvSpPr>
          <p:spPr>
            <a:xfrm>
              <a:off x="0" y="0"/>
              <a:ext cx="3952800" cy="1762200"/>
            </a:xfrm>
            <a:prstGeom prst="roundRect">
              <a:avLst>
                <a:gd fmla="val 7567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h2c73c3ada47f7cb8_1_1904"/>
            <p:cNvSpPr/>
            <p:nvPr/>
          </p:nvSpPr>
          <p:spPr>
            <a:xfrm>
              <a:off x="0" y="0"/>
              <a:ext cx="39528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h2c73c3ada47f7cb8_1_1904"/>
            <p:cNvSpPr txBox="1"/>
            <p:nvPr/>
          </p:nvSpPr>
          <p:spPr>
            <a:xfrm>
              <a:off x="0" y="0"/>
              <a:ext cx="3952800" cy="17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59669"/>
                  </a:solidFill>
                  <a:latin typeface="Manrope"/>
                  <a:ea typeface="Manrope"/>
                  <a:cs typeface="Manrope"/>
                  <a:sym typeface="Manrope"/>
                </a:rPr>
                <a:t>04. LEAKAGE PREVENTION</a:t>
              </a:r>
              <a:endParaRPr b="1" sz="1200">
                <a:solidFill>
                  <a:srgbClr val="059669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Strict Patient Isolation</a:t>
              </a:r>
              <a:endParaRPr b="1" sz="1200">
                <a:solidFill>
                  <a:srgbClr val="059669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All tissue patches from a single patient strictly stay within the same fold. This prevents the model from memorizing individual patient identity rather than genuinely learning disease patterns.</a:t>
              </a:r>
              <a:endParaRPr b="0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h2c73c3ada47f7cb8_1_2377"/>
          <p:cNvSpPr txBox="1"/>
          <p:nvPr/>
        </p:nvSpPr>
        <p:spPr>
          <a:xfrm>
            <a:off x="131333" y="722333"/>
            <a:ext cx="114261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131313"/>
                </a:solidFill>
                <a:latin typeface="Manrope"/>
                <a:ea typeface="Manrope"/>
                <a:cs typeface="Manrope"/>
                <a:sym typeface="Manrope"/>
              </a:rPr>
              <a:t>Technical Pipeline &amp; Methodology</a:t>
            </a:r>
            <a:r>
              <a:rPr lang="en-US" sz="2700">
                <a:solidFill>
                  <a:srgbClr val="6B728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(For Coders)</a:t>
            </a:r>
            <a:endParaRPr sz="4000">
              <a:solidFill>
                <a:srgbClr val="11182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13131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8" name="Google Shape;778;h2c73c3ada47f7cb8_1_2377"/>
          <p:cNvSpPr/>
          <p:nvPr/>
        </p:nvSpPr>
        <p:spPr>
          <a:xfrm>
            <a:off x="3200400" y="3556000"/>
            <a:ext cx="127200" cy="20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177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h2c73c3ada47f7cb8_1_2377"/>
          <p:cNvSpPr/>
          <p:nvPr/>
        </p:nvSpPr>
        <p:spPr>
          <a:xfrm>
            <a:off x="5994400" y="3556000"/>
            <a:ext cx="127200" cy="20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177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h2c73c3ada47f7cb8_1_2377"/>
          <p:cNvSpPr/>
          <p:nvPr/>
        </p:nvSpPr>
        <p:spPr>
          <a:xfrm>
            <a:off x="8788400" y="3556000"/>
            <a:ext cx="127200" cy="20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177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1" name="Google Shape;781;h2c73c3ada47f7cb8_1_2377"/>
          <p:cNvGrpSpPr/>
          <p:nvPr/>
        </p:nvGrpSpPr>
        <p:grpSpPr>
          <a:xfrm>
            <a:off x="635000" y="1460500"/>
            <a:ext cx="2438339" cy="4635484"/>
            <a:chOff x="0" y="0"/>
            <a:chExt cx="1828800" cy="3476700"/>
          </a:xfrm>
        </p:grpSpPr>
        <p:sp>
          <p:nvSpPr>
            <p:cNvPr id="782" name="Google Shape;782;h2c73c3ada47f7cb8_1_2377"/>
            <p:cNvSpPr/>
            <p:nvPr/>
          </p:nvSpPr>
          <p:spPr>
            <a:xfrm>
              <a:off x="0" y="0"/>
              <a:ext cx="1828800" cy="3476700"/>
            </a:xfrm>
            <a:prstGeom prst="roundRect">
              <a:avLst>
                <a:gd fmla="val 7291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h2c73c3ada47f7cb8_1_2377"/>
            <p:cNvSpPr/>
            <p:nvPr/>
          </p:nvSpPr>
          <p:spPr>
            <a:xfrm>
              <a:off x="0" y="0"/>
              <a:ext cx="18288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h2c73c3ada47f7cb8_1_2377"/>
            <p:cNvSpPr txBox="1"/>
            <p:nvPr/>
          </p:nvSpPr>
          <p:spPr>
            <a:xfrm>
              <a:off x="0" y="0"/>
              <a:ext cx="1828800" cy="3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03200" spcFirstLastPara="1" rIns="203200" wrap="square" tIns="279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563EB"/>
                  </a:solidFill>
                  <a:latin typeface="Manrope"/>
                  <a:ea typeface="Manrope"/>
                  <a:cs typeface="Manrope"/>
                  <a:sym typeface="Manrope"/>
                </a:rPr>
                <a:t>01. STEP ONE</a:t>
              </a:r>
              <a:endParaRPr b="1" sz="900">
                <a:solidFill>
                  <a:srgbClr val="2563EB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Patch Slicing</a:t>
              </a:r>
              <a:endParaRPr b="1" sz="16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QuPath annotation + epithelium contour </a:t>
              </a:r>
              <a:r>
                <a:rPr b="1" lang="en-US" sz="1100">
                  <a:solidFill>
                    <a:srgbClr val="2563EB"/>
                  </a:solidFill>
                  <a:latin typeface="Manrope"/>
                  <a:ea typeface="Manrope"/>
                  <a:cs typeface="Manrope"/>
                  <a:sym typeface="Manrope"/>
                </a:rPr>
                <a:t>→</a:t>
              </a: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 square patches of variable size.</a:t>
              </a:r>
              <a:endParaRPr b="0"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(Start with whole microscope slide images. Use QuPath to draw boundaries around the tissue region, then cut that region into many small square patches (patches vary in size).</a:t>
              </a:r>
              <a:endParaRPr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)</a:t>
              </a:r>
              <a:endParaRPr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1E40AF"/>
                  </a:solidFill>
                  <a:highlight>
                    <a:srgbClr val="EFF6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patching_code_Fall2025.ipynb</a:t>
              </a:r>
              <a:endParaRPr sz="900">
                <a:solidFill>
                  <a:srgbClr val="1E40AF"/>
                </a:solidFill>
                <a:highlight>
                  <a:srgbClr val="EFF6FF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785" name="Google Shape;785;h2c73c3ada47f7cb8_1_2377"/>
          <p:cNvGrpSpPr/>
          <p:nvPr/>
        </p:nvGrpSpPr>
        <p:grpSpPr>
          <a:xfrm>
            <a:off x="3429000" y="1460500"/>
            <a:ext cx="2438339" cy="4635484"/>
            <a:chOff x="0" y="0"/>
            <a:chExt cx="1828800" cy="3476700"/>
          </a:xfrm>
        </p:grpSpPr>
        <p:sp>
          <p:nvSpPr>
            <p:cNvPr id="786" name="Google Shape;786;h2c73c3ada47f7cb8_1_2377"/>
            <p:cNvSpPr/>
            <p:nvPr/>
          </p:nvSpPr>
          <p:spPr>
            <a:xfrm>
              <a:off x="0" y="0"/>
              <a:ext cx="1828800" cy="3476700"/>
            </a:xfrm>
            <a:prstGeom prst="roundRect">
              <a:avLst>
                <a:gd fmla="val 7291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h2c73c3ada47f7cb8_1_2377"/>
            <p:cNvSpPr/>
            <p:nvPr/>
          </p:nvSpPr>
          <p:spPr>
            <a:xfrm>
              <a:off x="0" y="0"/>
              <a:ext cx="18288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h2c73c3ada47f7cb8_1_2377"/>
            <p:cNvSpPr txBox="1"/>
            <p:nvPr/>
          </p:nvSpPr>
          <p:spPr>
            <a:xfrm>
              <a:off x="0" y="0"/>
              <a:ext cx="1828800" cy="3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03200" spcFirstLastPara="1" rIns="203200" wrap="square" tIns="279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B5CF6"/>
                  </a:solidFill>
                  <a:latin typeface="Manrope"/>
                  <a:ea typeface="Manrope"/>
                  <a:cs typeface="Manrope"/>
                  <a:sym typeface="Manrope"/>
                </a:rPr>
                <a:t>02. STEP TWO</a:t>
              </a:r>
              <a:endParaRPr b="1" sz="900">
                <a:solidFill>
                  <a:srgbClr val="8B5CF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Feature Embedding</a:t>
              </a:r>
              <a:endParaRPr b="1" sz="16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Each patch run once through frozen KimiaNet (CNN)</a:t>
              </a:r>
              <a:endParaRPr b="0"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(</a:t>
              </a:r>
              <a:r>
                <a:rPr lang="en-US" sz="1100">
                  <a:latin typeface="Manrope"/>
                  <a:ea typeface="Manrope"/>
                  <a:cs typeface="Manrope"/>
                  <a:sym typeface="Manrope"/>
                </a:rPr>
                <a:t>Run each patch through KimiaNet, a pre-trained CNN that’s </a:t>
              </a:r>
              <a:r>
                <a:rPr i="1" lang="en-US" sz="1100">
                  <a:latin typeface="Manrope"/>
                  <a:ea typeface="Manrope"/>
                  <a:cs typeface="Manrope"/>
                  <a:sym typeface="Manrope"/>
                </a:rPr>
                <a:t>frozen</a:t>
              </a:r>
              <a:r>
                <a:rPr lang="en-US" sz="1100">
                  <a:latin typeface="Manrope"/>
                  <a:ea typeface="Manrope"/>
                  <a:cs typeface="Manrope"/>
                  <a:sym typeface="Manrope"/>
                </a:rPr>
                <a:t> (not re-trained), to convert it from an image into a 4096-number vector,  a compressed numeric summary of what’s visually in that patch.</a:t>
              </a:r>
              <a:r>
                <a:rPr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)</a:t>
              </a: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 </a:t>
              </a:r>
              <a:endParaRPr b="1" sz="1100">
                <a:solidFill>
                  <a:srgbClr val="8B5CF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8B5CF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5B21B6"/>
                  </a:solidFill>
                  <a:highlight>
                    <a:srgbClr val="F5F3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precompute_pooled_features.py</a:t>
              </a:r>
              <a:endParaRPr sz="900">
                <a:solidFill>
                  <a:srgbClr val="5B21B6"/>
                </a:solidFill>
                <a:highlight>
                  <a:srgbClr val="F5F3FF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789" name="Google Shape;789;h2c73c3ada47f7cb8_1_2377"/>
          <p:cNvGrpSpPr/>
          <p:nvPr/>
        </p:nvGrpSpPr>
        <p:grpSpPr>
          <a:xfrm>
            <a:off x="6223000" y="1460500"/>
            <a:ext cx="2438339" cy="4635484"/>
            <a:chOff x="0" y="0"/>
            <a:chExt cx="1828800" cy="3476700"/>
          </a:xfrm>
        </p:grpSpPr>
        <p:sp>
          <p:nvSpPr>
            <p:cNvPr id="790" name="Google Shape;790;h2c73c3ada47f7cb8_1_2377"/>
            <p:cNvSpPr/>
            <p:nvPr/>
          </p:nvSpPr>
          <p:spPr>
            <a:xfrm>
              <a:off x="0" y="0"/>
              <a:ext cx="1828800" cy="3476700"/>
            </a:xfrm>
            <a:prstGeom prst="roundRect">
              <a:avLst>
                <a:gd fmla="val 7291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h2c73c3ada47f7cb8_1_2377"/>
            <p:cNvSpPr/>
            <p:nvPr/>
          </p:nvSpPr>
          <p:spPr>
            <a:xfrm>
              <a:off x="0" y="0"/>
              <a:ext cx="18288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h2c73c3ada47f7cb8_1_2377"/>
            <p:cNvSpPr txBox="1"/>
            <p:nvPr/>
          </p:nvSpPr>
          <p:spPr>
            <a:xfrm>
              <a:off x="0" y="0"/>
              <a:ext cx="1828800" cy="3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03200" spcFirstLastPara="1" rIns="203200" wrap="square" tIns="279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97706"/>
                  </a:solidFill>
                  <a:latin typeface="Manrope"/>
                  <a:ea typeface="Manrope"/>
                  <a:cs typeface="Manrope"/>
                  <a:sym typeface="Manrope"/>
                </a:rPr>
                <a:t>03. STEP THREE</a:t>
              </a:r>
              <a:endParaRPr b="1" sz="1200">
                <a:solidFill>
                  <a:srgbClr val="D9770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Case &amp; Fold Splitting</a:t>
              </a:r>
              <a:endParaRPr b="1" sz="20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93 cases </a:t>
              </a:r>
              <a:r>
                <a:rPr b="1" lang="en-US" sz="1100">
                  <a:solidFill>
                    <a:srgbClr val="D97706"/>
                  </a:solidFill>
                  <a:latin typeface="Manrope"/>
                  <a:ea typeface="Manrope"/>
                  <a:cs typeface="Manrope"/>
                  <a:sym typeface="Manrope"/>
                </a:rPr>
                <a:t>→</a:t>
              </a: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 5 rotating train / val / test folds (StratifiedGroupKFold, related patients grouped).</a:t>
              </a:r>
              <a:endParaRPr b="0"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(Take all 93 cases and split them into 5 rotating train/val/test folds using StratifiedGroupKFold, which keeps all patches belonging to the same patient together in one fold (so no patient’s data leaks across train and test).)</a:t>
              </a:r>
              <a:endParaRPr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2400E"/>
                  </a:solidFill>
                  <a:highlight>
                    <a:srgbClr val="FFFBEB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make_splits.py</a:t>
              </a:r>
              <a:endParaRPr sz="1100">
                <a:solidFill>
                  <a:srgbClr val="92400E"/>
                </a:solidFill>
                <a:highlight>
                  <a:srgbClr val="FFFBEB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793" name="Google Shape;793;h2c73c3ada47f7cb8_1_2377"/>
          <p:cNvGrpSpPr/>
          <p:nvPr/>
        </p:nvGrpSpPr>
        <p:grpSpPr>
          <a:xfrm>
            <a:off x="9017000" y="1460500"/>
            <a:ext cx="2438339" cy="4635484"/>
            <a:chOff x="0" y="0"/>
            <a:chExt cx="1828800" cy="3476700"/>
          </a:xfrm>
        </p:grpSpPr>
        <p:sp>
          <p:nvSpPr>
            <p:cNvPr id="794" name="Google Shape;794;h2c73c3ada47f7cb8_1_2377"/>
            <p:cNvSpPr/>
            <p:nvPr/>
          </p:nvSpPr>
          <p:spPr>
            <a:xfrm>
              <a:off x="0" y="0"/>
              <a:ext cx="1828800" cy="3476700"/>
            </a:xfrm>
            <a:prstGeom prst="roundRect">
              <a:avLst>
                <a:gd fmla="val 7291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h2c73c3ada47f7cb8_1_2377"/>
            <p:cNvSpPr/>
            <p:nvPr/>
          </p:nvSpPr>
          <p:spPr>
            <a:xfrm>
              <a:off x="0" y="0"/>
              <a:ext cx="18288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h2c73c3ada47f7cb8_1_2377"/>
            <p:cNvSpPr txBox="1"/>
            <p:nvPr/>
          </p:nvSpPr>
          <p:spPr>
            <a:xfrm>
              <a:off x="0" y="0"/>
              <a:ext cx="1828800" cy="3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03200" spcFirstLastPara="1" rIns="203200" wrap="square" tIns="279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59669"/>
                  </a:solidFill>
                  <a:latin typeface="Manrope"/>
                  <a:ea typeface="Manrope"/>
                  <a:cs typeface="Manrope"/>
                  <a:sym typeface="Manrope"/>
                </a:rPr>
                <a:t>04. STEP FOUR</a:t>
              </a:r>
              <a:endParaRPr b="1" sz="1200">
                <a:solidFill>
                  <a:srgbClr val="059669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Attention Model</a:t>
              </a:r>
              <a:endParaRPr b="1" sz="20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Patches </a:t>
              </a:r>
              <a:r>
                <a:rPr b="1" lang="en-US" sz="1100">
                  <a:solidFill>
                    <a:srgbClr val="059669"/>
                  </a:solidFill>
                  <a:latin typeface="Manrope"/>
                  <a:ea typeface="Manrope"/>
                  <a:cs typeface="Manrope"/>
                  <a:sym typeface="Manrope"/>
                </a:rPr>
                <a:t>→</a:t>
              </a: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 slice </a:t>
              </a:r>
              <a:r>
                <a:rPr b="1" lang="en-US" sz="1100">
                  <a:solidFill>
                    <a:srgbClr val="059669"/>
                  </a:solidFill>
                  <a:latin typeface="Manrope"/>
                  <a:ea typeface="Manrope"/>
                  <a:cs typeface="Manrope"/>
                  <a:sym typeface="Manrope"/>
                </a:rPr>
                <a:t>→</a:t>
              </a: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 stain </a:t>
              </a:r>
              <a:r>
                <a:rPr b="1" lang="en-US" sz="1100">
                  <a:solidFill>
                    <a:srgbClr val="059669"/>
                  </a:solidFill>
                  <a:latin typeface="Manrope"/>
                  <a:ea typeface="Manrope"/>
                  <a:cs typeface="Manrope"/>
                  <a:sym typeface="Manrope"/>
                </a:rPr>
                <a:t>→</a:t>
              </a:r>
              <a:r>
                <a:rPr b="0"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 case embedding, with attention learned at every level.</a:t>
              </a:r>
              <a:endParaRPr b="0"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74151"/>
                  </a:solidFill>
                  <a:latin typeface="Manrope"/>
                  <a:ea typeface="Manrope"/>
                  <a:cs typeface="Manrope"/>
                  <a:sym typeface="Manrope"/>
                </a:rPr>
                <a:t>(Feed everything into the model, which combines patches → slices → stains → one case-level prediction, using attention at every level. Output: benign or high-grade.)</a:t>
              </a:r>
              <a:endParaRPr sz="11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74151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65F46"/>
                  </a:solidFill>
                  <a:highlight>
                    <a:srgbClr val="ECFD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main.py → benign / high-grade</a:t>
              </a:r>
              <a:endParaRPr sz="1100">
                <a:solidFill>
                  <a:srgbClr val="065F46"/>
                </a:solidFill>
                <a:highlight>
                  <a:srgbClr val="ECFDF5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h2c73c3ada47f7cb8_1_2853"/>
          <p:cNvSpPr txBox="1"/>
          <p:nvPr>
            <p:ph type="title"/>
          </p:nvPr>
        </p:nvSpPr>
        <p:spPr>
          <a:xfrm>
            <a:off x="635000" y="508000"/>
            <a:ext cx="109221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131313"/>
                </a:solidFill>
                <a:latin typeface="Manrope"/>
                <a:ea typeface="Manrope"/>
                <a:cs typeface="Manrope"/>
                <a:sym typeface="Manrope"/>
              </a:rPr>
              <a:t>Critical Review &amp; Proposed Improvement</a:t>
            </a:r>
            <a:endParaRPr b="1" sz="4300">
              <a:solidFill>
                <a:srgbClr val="13131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802" name="Google Shape;802;h2c73c3ada47f7cb8_1_2853"/>
          <p:cNvGrpSpPr/>
          <p:nvPr/>
        </p:nvGrpSpPr>
        <p:grpSpPr>
          <a:xfrm>
            <a:off x="635000" y="1524000"/>
            <a:ext cx="3429114" cy="4699083"/>
            <a:chOff x="0" y="0"/>
            <a:chExt cx="2571900" cy="3524400"/>
          </a:xfrm>
        </p:grpSpPr>
        <p:sp>
          <p:nvSpPr>
            <p:cNvPr id="803" name="Google Shape;803;h2c73c3ada47f7cb8_1_2853"/>
            <p:cNvSpPr/>
            <p:nvPr/>
          </p:nvSpPr>
          <p:spPr>
            <a:xfrm>
              <a:off x="0" y="0"/>
              <a:ext cx="2571900" cy="35244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h2c73c3ada47f7cb8_1_2853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h2c73c3ada47f7cb8_1_2853"/>
            <p:cNvSpPr txBox="1"/>
            <p:nvPr/>
          </p:nvSpPr>
          <p:spPr>
            <a:xfrm>
              <a:off x="0" y="0"/>
              <a:ext cx="25719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254000" spcFirstLastPara="1" rIns="2540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EF4444"/>
                  </a:solidFill>
                  <a:latin typeface="Manrope"/>
                  <a:ea typeface="Manrope"/>
                  <a:cs typeface="Manrope"/>
                  <a:sym typeface="Manrope"/>
                </a:rPr>
                <a:t>01. The Weakness</a:t>
              </a:r>
              <a:endParaRPr b="1" sz="1300">
                <a:solidFill>
                  <a:srgbClr val="EF4444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Unjustified Weight</a:t>
              </a:r>
              <a:endParaRPr b="1" sz="24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0" lang="en-US" sz="2900">
                  <a:solidFill>
                    <a:srgbClr val="DC2626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+46%</a:t>
              </a:r>
              <a:endParaRPr b="0" sz="2900">
                <a:solidFill>
                  <a:srgbClr val="DC2626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91B1B"/>
                  </a:solidFill>
                  <a:highlight>
                    <a:srgbClr val="FEF2F2"/>
                  </a:highlight>
                  <a:latin typeface="Manrope SemiBold"/>
                  <a:ea typeface="Manrope SemiBold"/>
                  <a:cs typeface="Manrope SemiBold"/>
                  <a:sym typeface="Manrope SemiBold"/>
                </a:rPr>
                <a:t>Higher than data justifies(2</a:t>
              </a:r>
              <a:r>
                <a:rPr lang="en-US" sz="1200">
                  <a:solidFill>
                    <a:srgbClr val="991B1B"/>
                  </a:solidFill>
                  <a:highlight>
                    <a:srgbClr val="FEF2F2"/>
                  </a:highlight>
                  <a:latin typeface="Manrope SemiBold"/>
                  <a:ea typeface="Manrope SemiBold"/>
                  <a:cs typeface="Manrope SemiBold"/>
                  <a:sym typeface="Manrope SemiBold"/>
                </a:rPr>
                <a:t>.52 vs 1.73)</a:t>
              </a:r>
              <a:endParaRPr b="0" sz="1200">
                <a:solidFill>
                  <a:srgbClr val="991B1B"/>
                </a:solidFill>
                <a:highlight>
                  <a:srgbClr val="FEF2F2"/>
                </a:highlight>
                <a:latin typeface="Manrope SemiBold"/>
                <a:ea typeface="Manrope SemiBold"/>
                <a:cs typeface="Manrope SemiBold"/>
                <a:sym typeface="Manrope Semi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Class counts:</a:t>
              </a:r>
              <a:r>
                <a:rPr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37 benign vs. 64 high-grade (≈1.73:1 ratio).</a:t>
              </a:r>
              <a:endParaRPr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5803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config.py</a:t>
              </a:r>
              <a:r>
                <a:rPr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uses </a:t>
              </a:r>
              <a:r>
                <a:rPr lang="en-US" sz="1400">
                  <a:solidFill>
                    <a:srgbClr val="15803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[2.5285, 1.0]</a:t>
              </a:r>
              <a:r>
                <a:rPr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, found by Optuna hyperparameter search.</a:t>
              </a:r>
              <a:endParaRPr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Chosen for validation loss, not derived from actual class balance</a:t>
              </a:r>
              <a:endParaRPr i="1" sz="14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400">
                <a:solidFill>
                  <a:srgbClr val="4B5563"/>
                </a:solidFill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065F46"/>
                  </a:solidFill>
                </a:rPr>
                <a:t>[config.py , line 38]</a:t>
              </a:r>
              <a:r>
                <a:rPr i="1" lang="en-US" sz="1400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i="1" sz="1400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h2c73c3ada47f7cb8_1_2853"/>
          <p:cNvGrpSpPr/>
          <p:nvPr/>
        </p:nvGrpSpPr>
        <p:grpSpPr>
          <a:xfrm>
            <a:off x="4381500" y="1524000"/>
            <a:ext cx="3429114" cy="4699083"/>
            <a:chOff x="0" y="0"/>
            <a:chExt cx="2571900" cy="3524400"/>
          </a:xfrm>
        </p:grpSpPr>
        <p:sp>
          <p:nvSpPr>
            <p:cNvPr id="807" name="Google Shape;807;h2c73c3ada47f7cb8_1_2853"/>
            <p:cNvSpPr/>
            <p:nvPr/>
          </p:nvSpPr>
          <p:spPr>
            <a:xfrm>
              <a:off x="0" y="0"/>
              <a:ext cx="2571900" cy="35244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h2c73c3ada47f7cb8_1_2853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h2c73c3ada47f7cb8_1_2853"/>
            <p:cNvSpPr txBox="1"/>
            <p:nvPr/>
          </p:nvSpPr>
          <p:spPr>
            <a:xfrm>
              <a:off x="0" y="0"/>
              <a:ext cx="25719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254000" spcFirstLastPara="1" rIns="2540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D97706"/>
                  </a:solidFill>
                  <a:latin typeface="Manrope"/>
                  <a:ea typeface="Manrope"/>
                  <a:cs typeface="Manrope"/>
                  <a:sym typeface="Manrope"/>
                </a:rPr>
                <a:t>02. Why This Matters</a:t>
              </a:r>
              <a:endParaRPr b="1" sz="1300">
                <a:solidFill>
                  <a:srgbClr val="D9770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Model Over-Correction</a:t>
              </a:r>
              <a:endParaRPr b="1" sz="24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B45309"/>
                  </a:solidFill>
                  <a:highlight>
                    <a:srgbClr val="FFFBEB"/>
                  </a:highlight>
                  <a:latin typeface="Manrope ExtraBold"/>
                  <a:ea typeface="Manrope ExtraBold"/>
                  <a:cs typeface="Manrope ExtraBold"/>
                  <a:sym typeface="Manrope ExtraBold"/>
                </a:rPr>
                <a:t>2.53 : 1</a:t>
              </a:r>
              <a:endParaRPr b="0" sz="2400">
                <a:solidFill>
                  <a:srgbClr val="B45309"/>
                </a:solidFill>
                <a:highlight>
                  <a:srgbClr val="FFFBEB"/>
                </a:highlight>
                <a:latin typeface="Manrope ExtraBold"/>
                <a:ea typeface="Manrope ExtraBold"/>
                <a:cs typeface="Manrope ExtraBold"/>
                <a:sym typeface="Manrope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B45309"/>
                  </a:solidFill>
                  <a:highlight>
                    <a:srgbClr val="FFFBEB"/>
                  </a:highlight>
                  <a:latin typeface="Manrope SemiBold"/>
                  <a:ea typeface="Manrope SemiBold"/>
                  <a:cs typeface="Manrope SemiBold"/>
                  <a:sym typeface="Manrope SemiBold"/>
                </a:rPr>
                <a:t>Assumed vs. 1.73:1 Actual</a:t>
              </a:r>
              <a:endParaRPr b="0" sz="1200">
                <a:solidFill>
                  <a:srgbClr val="B45309"/>
                </a:solidFill>
                <a:highlight>
                  <a:srgbClr val="FFFBEB"/>
                </a:highlight>
                <a:latin typeface="Manrope SemiBold"/>
                <a:ea typeface="Manrope SemiBold"/>
                <a:cs typeface="Manrope SemiBold"/>
                <a:sym typeface="Manrope Semi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The model over-corrects for an imbalance milder than the weight assumes.</a:t>
              </a:r>
              <a:endParaRPr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Over-penalizes benign misclassifications beyond what the dataset's own distribution warrants.</a:t>
              </a:r>
              <a:endParaRPr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h2c73c3ada47f7cb8_1_2853"/>
          <p:cNvGrpSpPr/>
          <p:nvPr/>
        </p:nvGrpSpPr>
        <p:grpSpPr>
          <a:xfrm>
            <a:off x="8128000" y="1524000"/>
            <a:ext cx="3429114" cy="4699083"/>
            <a:chOff x="0" y="0"/>
            <a:chExt cx="2571900" cy="3524400"/>
          </a:xfrm>
        </p:grpSpPr>
        <p:sp>
          <p:nvSpPr>
            <p:cNvPr id="811" name="Google Shape;811;h2c73c3ada47f7cb8_1_2853"/>
            <p:cNvSpPr/>
            <p:nvPr/>
          </p:nvSpPr>
          <p:spPr>
            <a:xfrm>
              <a:off x="0" y="0"/>
              <a:ext cx="2571900" cy="35244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h2c73c3ada47f7cb8_1_2853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h2c73c3ada47f7cb8_1_2853"/>
            <p:cNvSpPr txBox="1"/>
            <p:nvPr/>
          </p:nvSpPr>
          <p:spPr>
            <a:xfrm>
              <a:off x="0" y="0"/>
              <a:ext cx="25719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254000" spcFirstLastPara="1" rIns="2540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Manrope"/>
                  <a:ea typeface="Manrope"/>
                  <a:cs typeface="Manrope"/>
                  <a:sym typeface="Manrope"/>
                </a:rPr>
                <a:t>03. The Proposed Fix</a:t>
              </a:r>
              <a:endParaRPr b="1" sz="1100">
                <a:solidFill>
                  <a:srgbClr val="059669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827"/>
                  </a:solidFill>
                  <a:latin typeface="Manrope"/>
                  <a:ea typeface="Manrope"/>
                  <a:cs typeface="Manrope"/>
                  <a:sym typeface="Manrope"/>
                </a:rPr>
                <a:t>Data-Derived Value</a:t>
              </a:r>
              <a:endParaRPr b="1" sz="2000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047857"/>
                  </a:solidFill>
                  <a:highlight>
                    <a:srgbClr val="ECFD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[1.73, 1.0]</a:t>
              </a:r>
              <a:endParaRPr b="0" sz="1700">
                <a:solidFill>
                  <a:srgbClr val="047857"/>
                </a:solidFill>
                <a:highlight>
                  <a:srgbClr val="ECFDF5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47857"/>
                  </a:solidFill>
                  <a:highlight>
                    <a:srgbClr val="ECFDF5"/>
                  </a:highlight>
                  <a:latin typeface="Manrope SemiBold"/>
                  <a:ea typeface="Manrope SemiBold"/>
                  <a:cs typeface="Manrope SemiBold"/>
                  <a:sym typeface="Manrope SemiBold"/>
                </a:rPr>
                <a:t>Exact Class Ratio Swap</a:t>
              </a:r>
              <a:endParaRPr b="0" sz="1000">
                <a:solidFill>
                  <a:srgbClr val="047857"/>
                </a:solidFill>
                <a:highlight>
                  <a:srgbClr val="ECFDF5"/>
                </a:highlight>
                <a:latin typeface="Manrope SemiBold"/>
                <a:ea typeface="Manrope SemiBold"/>
                <a:cs typeface="Manrope SemiBold"/>
                <a:sym typeface="Manrope Semi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Update </a:t>
              </a:r>
              <a:r>
                <a:rPr lang="en-US" sz="1200">
                  <a:solidFill>
                    <a:srgbClr val="15803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TRAINING_CONFIG['class_weights']</a:t>
              </a:r>
              <a:r>
                <a:rPr lang="en-US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in </a:t>
              </a:r>
              <a:r>
                <a:rPr lang="en-US" sz="1200">
                  <a:solidFill>
                    <a:srgbClr val="15803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config.py</a:t>
              </a:r>
              <a:r>
                <a:rPr lang="en-US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Computed as </a:t>
              </a:r>
              <a:r>
                <a:rPr lang="en-US" sz="1200">
                  <a:solidFill>
                    <a:srgbClr val="15803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n_high_grade / n_benign</a:t>
              </a:r>
              <a:r>
                <a:rPr lang="en-US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(64 / 37).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47857"/>
                  </a:solidFill>
                  <a:highlight>
                    <a:srgbClr val="ECFDF5"/>
                  </a:highlight>
                  <a:latin typeface="Arial"/>
                  <a:ea typeface="Arial"/>
                  <a:cs typeface="Arial"/>
                  <a:sym typeface="Arial"/>
                </a:rPr>
                <a:t>• Single value swap</a:t>
              </a:r>
              <a:br>
                <a:rPr b="1" lang="en-US" sz="1200">
                  <a:solidFill>
                    <a:srgbClr val="047857"/>
                  </a:solidFill>
                  <a:highlight>
                    <a:srgbClr val="ECFDF5"/>
                  </a:highlight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1200">
                  <a:solidFill>
                    <a:srgbClr val="047857"/>
                  </a:solidFill>
                  <a:highlight>
                    <a:srgbClr val="ECFDF5"/>
                  </a:highlight>
                  <a:latin typeface="Arial"/>
                  <a:ea typeface="Arial"/>
                  <a:cs typeface="Arial"/>
                  <a:sym typeface="Arial"/>
                </a:rPr>
                <a:t>• Grounded directly in data</a:t>
              </a:r>
              <a:endParaRPr b="1" sz="1200">
                <a:solidFill>
                  <a:srgbClr val="047857"/>
                </a:solidFill>
                <a:highlight>
                  <a:srgbClr val="ECFDF5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h44282de0fdbe31a0_2_0"/>
          <p:cNvSpPr txBox="1"/>
          <p:nvPr/>
        </p:nvSpPr>
        <p:spPr>
          <a:xfrm>
            <a:off x="548640" y="32004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Zooming In: Patches Entering KimiaNet</a:t>
            </a:r>
            <a:endParaRPr b="1" i="0" sz="3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9" name="Google Shape;819;h44282de0fdbe31a0_2_0"/>
          <p:cNvSpPr/>
          <p:nvPr/>
        </p:nvSpPr>
        <p:spPr>
          <a:xfrm>
            <a:off x="548640" y="1280160"/>
            <a:ext cx="1965900" cy="1188600"/>
          </a:xfrm>
          <a:prstGeom prst="roundRect">
            <a:avLst>
              <a:gd fmla="val 7692" name="adj"/>
            </a:avLst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h44282de0fdbe31a0_2_0"/>
          <p:cNvSpPr txBox="1"/>
          <p:nvPr/>
        </p:nvSpPr>
        <p:spPr>
          <a:xfrm>
            <a:off x="640080" y="1280160"/>
            <a:ext cx="178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Slides + QuPath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Epithelium outlined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21" name="Google Shape;821;h44282de0fdbe31a0_2_0"/>
          <p:cNvCxnSpPr/>
          <p:nvPr/>
        </p:nvCxnSpPr>
        <p:spPr>
          <a:xfrm>
            <a:off x="2560320" y="18745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2" name="Google Shape;822;h44282de0fdbe31a0_2_0"/>
          <p:cNvSpPr/>
          <p:nvPr/>
        </p:nvSpPr>
        <p:spPr>
          <a:xfrm>
            <a:off x="2843784" y="1280160"/>
            <a:ext cx="1965900" cy="1188600"/>
          </a:xfrm>
          <a:prstGeom prst="roundRect">
            <a:avLst>
              <a:gd fmla="val 7692" name="adj"/>
            </a:avLst>
          </a:prstGeom>
          <a:solidFill>
            <a:srgbClr val="E1D5E7"/>
          </a:solidFill>
          <a:ln cap="flat" cmpd="sng" w="25400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h44282de0fdbe31a0_2_0"/>
          <p:cNvSpPr txBox="1"/>
          <p:nvPr/>
        </p:nvSpPr>
        <p:spPr>
          <a:xfrm>
            <a:off x="2935224" y="1280160"/>
            <a:ext cx="178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Variable-size patches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Kept if 32 px or more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24" name="Google Shape;824;h44282de0fdbe31a0_2_0"/>
          <p:cNvCxnSpPr/>
          <p:nvPr/>
        </p:nvCxnSpPr>
        <p:spPr>
          <a:xfrm>
            <a:off x="4855464" y="18745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5" name="Google Shape;825;h44282de0fdbe31a0_2_0"/>
          <p:cNvSpPr/>
          <p:nvPr/>
        </p:nvSpPr>
        <p:spPr>
          <a:xfrm>
            <a:off x="5138928" y="1280160"/>
            <a:ext cx="1965900" cy="1188600"/>
          </a:xfrm>
          <a:prstGeom prst="roundRect">
            <a:avLst>
              <a:gd fmla="val 7692" name="adj"/>
            </a:avLst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h44282de0fdbe31a0_2_0"/>
          <p:cNvSpPr txBox="1"/>
          <p:nvPr/>
        </p:nvSpPr>
        <p:spPr>
          <a:xfrm>
            <a:off x="5230368" y="1280160"/>
            <a:ext cx="178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KimiaNet (DenseNet)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Shrinks each image 32×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27" name="Google Shape;827;h44282de0fdbe31a0_2_0"/>
          <p:cNvCxnSpPr/>
          <p:nvPr/>
        </p:nvCxnSpPr>
        <p:spPr>
          <a:xfrm>
            <a:off x="7150608" y="18745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8" name="Google Shape;828;h44282de0fdbe31a0_2_0"/>
          <p:cNvSpPr/>
          <p:nvPr/>
        </p:nvSpPr>
        <p:spPr>
          <a:xfrm>
            <a:off x="7434072" y="1280160"/>
            <a:ext cx="1965900" cy="1188600"/>
          </a:xfrm>
          <a:prstGeom prst="roundRect">
            <a:avLst>
              <a:gd fmla="val 7692" name="adj"/>
            </a:avLst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h44282de0fdbe31a0_2_0"/>
          <p:cNvSpPr txBox="1"/>
          <p:nvPr/>
        </p:nvSpPr>
        <p:spPr>
          <a:xfrm>
            <a:off x="7525512" y="1280160"/>
            <a:ext cx="178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Average pooling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4,096-number summary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30" name="Google Shape;830;h44282de0fdbe31a0_2_0"/>
          <p:cNvCxnSpPr/>
          <p:nvPr/>
        </p:nvCxnSpPr>
        <p:spPr>
          <a:xfrm>
            <a:off x="9445752" y="18745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1" name="Google Shape;831;h44282de0fdbe31a0_2_0"/>
          <p:cNvSpPr/>
          <p:nvPr/>
        </p:nvSpPr>
        <p:spPr>
          <a:xfrm>
            <a:off x="9729216" y="1280160"/>
            <a:ext cx="1965900" cy="1188600"/>
          </a:xfrm>
          <a:prstGeom prst="roundRect">
            <a:avLst>
              <a:gd fmla="val 7692" name="adj"/>
            </a:avLst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h44282de0fdbe31a0_2_0"/>
          <p:cNvSpPr txBox="1"/>
          <p:nvPr/>
        </p:nvSpPr>
        <p:spPr>
          <a:xfrm>
            <a:off x="9820656" y="1280160"/>
            <a:ext cx="178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 MIL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Benign / high-grade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h44282de0fdbe31a0_2_0"/>
          <p:cNvSpPr/>
          <p:nvPr/>
        </p:nvSpPr>
        <p:spPr>
          <a:xfrm>
            <a:off x="548640" y="2743200"/>
            <a:ext cx="6309300" cy="1691700"/>
          </a:xfrm>
          <a:prstGeom prst="roundRect">
            <a:avLst>
              <a:gd fmla="val 3243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h44282de0fdbe31a0_2_0"/>
          <p:cNvSpPr txBox="1"/>
          <p:nvPr/>
        </p:nvSpPr>
        <p:spPr>
          <a:xfrm>
            <a:off x="777240" y="2852928"/>
            <a:ext cx="58521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What a small patch becomes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 px → 1 cell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Inside KimiaNet every image is shrunk 32×. A patch under 64 px ends up as a single 1 × 1 cell, so its 4,096 numbers come from almost no tissue, mostly edges and padding.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h44282de0fdbe31a0_2_0"/>
          <p:cNvSpPr/>
          <p:nvPr/>
        </p:nvSpPr>
        <p:spPr>
          <a:xfrm>
            <a:off x="548640" y="4572000"/>
            <a:ext cx="6309300" cy="1691700"/>
          </a:xfrm>
          <a:prstGeom prst="roundRect">
            <a:avLst>
              <a:gd fmla="val 3243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h44282de0fdbe31a0_2_0"/>
          <p:cNvSpPr txBox="1"/>
          <p:nvPr/>
        </p:nvSpPr>
        <p:spPr>
          <a:xfrm>
            <a:off x="777240" y="4681728"/>
            <a:ext cx="58521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Manrope"/>
                <a:ea typeface="Manrope"/>
                <a:cs typeface="Manrope"/>
                <a:sym typeface="Manrope"/>
              </a:rPr>
              <a:t>What KimiaNet was trained on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1000 px → 31 × 31 cells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More than 240,000 patches of 1000 × 1000 px at 20× (Riasatian et al., 2021, Medical Image Analysis). Each summary averages about 961 regions of tissue.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7" name="Google Shape;837;h44282de0fdbe31a0_2_0"/>
          <p:cNvSpPr/>
          <p:nvPr/>
        </p:nvSpPr>
        <p:spPr>
          <a:xfrm>
            <a:off x="7040880" y="2743200"/>
            <a:ext cx="4599300" cy="3520500"/>
          </a:xfrm>
          <a:prstGeom prst="roundRect">
            <a:avLst>
              <a:gd fmla="val 1558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h44282de0fdbe31a0_2_0"/>
          <p:cNvSpPr txBox="1"/>
          <p:nvPr/>
        </p:nvSpPr>
        <p:spPr>
          <a:xfrm>
            <a:off x="7223760" y="2834640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Drawn to scale: cells KimiaNet summarizes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h44282de0fdbe31a0_2_0"/>
          <p:cNvSpPr/>
          <p:nvPr/>
        </p:nvSpPr>
        <p:spPr>
          <a:xfrm>
            <a:off x="7315200" y="3291840"/>
            <a:ext cx="2560200" cy="2560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0" name="Google Shape;840;h44282de0fdbe31a0_2_0"/>
          <p:cNvCxnSpPr/>
          <p:nvPr/>
        </p:nvCxnSpPr>
        <p:spPr>
          <a:xfrm>
            <a:off x="7397791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1" name="Google Shape;841;h44282de0fdbe31a0_2_0"/>
          <p:cNvCxnSpPr/>
          <p:nvPr/>
        </p:nvCxnSpPr>
        <p:spPr>
          <a:xfrm>
            <a:off x="7315200" y="3374431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h44282de0fdbe31a0_2_0"/>
          <p:cNvCxnSpPr/>
          <p:nvPr/>
        </p:nvCxnSpPr>
        <p:spPr>
          <a:xfrm>
            <a:off x="7480382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h44282de0fdbe31a0_2_0"/>
          <p:cNvCxnSpPr/>
          <p:nvPr/>
        </p:nvCxnSpPr>
        <p:spPr>
          <a:xfrm>
            <a:off x="7315200" y="3457022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h44282de0fdbe31a0_2_0"/>
          <p:cNvCxnSpPr/>
          <p:nvPr/>
        </p:nvCxnSpPr>
        <p:spPr>
          <a:xfrm>
            <a:off x="7562973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h44282de0fdbe31a0_2_0"/>
          <p:cNvCxnSpPr/>
          <p:nvPr/>
        </p:nvCxnSpPr>
        <p:spPr>
          <a:xfrm>
            <a:off x="7315200" y="3539613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h44282de0fdbe31a0_2_0"/>
          <p:cNvCxnSpPr/>
          <p:nvPr/>
        </p:nvCxnSpPr>
        <p:spPr>
          <a:xfrm>
            <a:off x="7645564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h44282de0fdbe31a0_2_0"/>
          <p:cNvCxnSpPr/>
          <p:nvPr/>
        </p:nvCxnSpPr>
        <p:spPr>
          <a:xfrm>
            <a:off x="7315200" y="3622204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h44282de0fdbe31a0_2_0"/>
          <p:cNvCxnSpPr/>
          <p:nvPr/>
        </p:nvCxnSpPr>
        <p:spPr>
          <a:xfrm>
            <a:off x="7728155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9" name="Google Shape;849;h44282de0fdbe31a0_2_0"/>
          <p:cNvCxnSpPr/>
          <p:nvPr/>
        </p:nvCxnSpPr>
        <p:spPr>
          <a:xfrm>
            <a:off x="7315200" y="3704795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h44282de0fdbe31a0_2_0"/>
          <p:cNvCxnSpPr/>
          <p:nvPr/>
        </p:nvCxnSpPr>
        <p:spPr>
          <a:xfrm>
            <a:off x="7810746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h44282de0fdbe31a0_2_0"/>
          <p:cNvCxnSpPr/>
          <p:nvPr/>
        </p:nvCxnSpPr>
        <p:spPr>
          <a:xfrm>
            <a:off x="7315200" y="3787386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h44282de0fdbe31a0_2_0"/>
          <p:cNvCxnSpPr/>
          <p:nvPr/>
        </p:nvCxnSpPr>
        <p:spPr>
          <a:xfrm>
            <a:off x="7893337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h44282de0fdbe31a0_2_0"/>
          <p:cNvCxnSpPr/>
          <p:nvPr/>
        </p:nvCxnSpPr>
        <p:spPr>
          <a:xfrm>
            <a:off x="7315200" y="3869977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4" name="Google Shape;854;h44282de0fdbe31a0_2_0"/>
          <p:cNvCxnSpPr/>
          <p:nvPr/>
        </p:nvCxnSpPr>
        <p:spPr>
          <a:xfrm>
            <a:off x="7975928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h44282de0fdbe31a0_2_0"/>
          <p:cNvCxnSpPr/>
          <p:nvPr/>
        </p:nvCxnSpPr>
        <p:spPr>
          <a:xfrm>
            <a:off x="7315200" y="3952568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h44282de0fdbe31a0_2_0"/>
          <p:cNvCxnSpPr/>
          <p:nvPr/>
        </p:nvCxnSpPr>
        <p:spPr>
          <a:xfrm>
            <a:off x="8058519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h44282de0fdbe31a0_2_0"/>
          <p:cNvCxnSpPr/>
          <p:nvPr/>
        </p:nvCxnSpPr>
        <p:spPr>
          <a:xfrm>
            <a:off x="7315200" y="4035159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h44282de0fdbe31a0_2_0"/>
          <p:cNvCxnSpPr/>
          <p:nvPr/>
        </p:nvCxnSpPr>
        <p:spPr>
          <a:xfrm>
            <a:off x="8141110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h44282de0fdbe31a0_2_0"/>
          <p:cNvCxnSpPr/>
          <p:nvPr/>
        </p:nvCxnSpPr>
        <p:spPr>
          <a:xfrm>
            <a:off x="7315200" y="4117750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h44282de0fdbe31a0_2_0"/>
          <p:cNvCxnSpPr/>
          <p:nvPr/>
        </p:nvCxnSpPr>
        <p:spPr>
          <a:xfrm>
            <a:off x="8223701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h44282de0fdbe31a0_2_0"/>
          <p:cNvCxnSpPr/>
          <p:nvPr/>
        </p:nvCxnSpPr>
        <p:spPr>
          <a:xfrm>
            <a:off x="7315200" y="4200341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h44282de0fdbe31a0_2_0"/>
          <p:cNvCxnSpPr/>
          <p:nvPr/>
        </p:nvCxnSpPr>
        <p:spPr>
          <a:xfrm>
            <a:off x="8306292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h44282de0fdbe31a0_2_0"/>
          <p:cNvCxnSpPr/>
          <p:nvPr/>
        </p:nvCxnSpPr>
        <p:spPr>
          <a:xfrm>
            <a:off x="7315200" y="4282932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h44282de0fdbe31a0_2_0"/>
          <p:cNvCxnSpPr/>
          <p:nvPr/>
        </p:nvCxnSpPr>
        <p:spPr>
          <a:xfrm>
            <a:off x="8388883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h44282de0fdbe31a0_2_0"/>
          <p:cNvCxnSpPr/>
          <p:nvPr/>
        </p:nvCxnSpPr>
        <p:spPr>
          <a:xfrm>
            <a:off x="7315200" y="4365523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h44282de0fdbe31a0_2_0"/>
          <p:cNvCxnSpPr/>
          <p:nvPr/>
        </p:nvCxnSpPr>
        <p:spPr>
          <a:xfrm>
            <a:off x="8471474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h44282de0fdbe31a0_2_0"/>
          <p:cNvCxnSpPr/>
          <p:nvPr/>
        </p:nvCxnSpPr>
        <p:spPr>
          <a:xfrm>
            <a:off x="7315200" y="4448114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h44282de0fdbe31a0_2_0"/>
          <p:cNvCxnSpPr/>
          <p:nvPr/>
        </p:nvCxnSpPr>
        <p:spPr>
          <a:xfrm>
            <a:off x="8554065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h44282de0fdbe31a0_2_0"/>
          <p:cNvCxnSpPr/>
          <p:nvPr/>
        </p:nvCxnSpPr>
        <p:spPr>
          <a:xfrm>
            <a:off x="7315200" y="4530705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h44282de0fdbe31a0_2_0"/>
          <p:cNvCxnSpPr/>
          <p:nvPr/>
        </p:nvCxnSpPr>
        <p:spPr>
          <a:xfrm>
            <a:off x="8636655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1" name="Google Shape;871;h44282de0fdbe31a0_2_0"/>
          <p:cNvCxnSpPr/>
          <p:nvPr/>
        </p:nvCxnSpPr>
        <p:spPr>
          <a:xfrm>
            <a:off x="7315200" y="4613295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h44282de0fdbe31a0_2_0"/>
          <p:cNvCxnSpPr/>
          <p:nvPr/>
        </p:nvCxnSpPr>
        <p:spPr>
          <a:xfrm>
            <a:off x="8719246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h44282de0fdbe31a0_2_0"/>
          <p:cNvCxnSpPr/>
          <p:nvPr/>
        </p:nvCxnSpPr>
        <p:spPr>
          <a:xfrm>
            <a:off x="7315200" y="4695886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h44282de0fdbe31a0_2_0"/>
          <p:cNvCxnSpPr/>
          <p:nvPr/>
        </p:nvCxnSpPr>
        <p:spPr>
          <a:xfrm>
            <a:off x="8801837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h44282de0fdbe31a0_2_0"/>
          <p:cNvCxnSpPr/>
          <p:nvPr/>
        </p:nvCxnSpPr>
        <p:spPr>
          <a:xfrm>
            <a:off x="7315200" y="4778477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h44282de0fdbe31a0_2_0"/>
          <p:cNvCxnSpPr/>
          <p:nvPr/>
        </p:nvCxnSpPr>
        <p:spPr>
          <a:xfrm>
            <a:off x="8884428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h44282de0fdbe31a0_2_0"/>
          <p:cNvCxnSpPr/>
          <p:nvPr/>
        </p:nvCxnSpPr>
        <p:spPr>
          <a:xfrm>
            <a:off x="7315200" y="4861068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h44282de0fdbe31a0_2_0"/>
          <p:cNvCxnSpPr/>
          <p:nvPr/>
        </p:nvCxnSpPr>
        <p:spPr>
          <a:xfrm>
            <a:off x="8967019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h44282de0fdbe31a0_2_0"/>
          <p:cNvCxnSpPr/>
          <p:nvPr/>
        </p:nvCxnSpPr>
        <p:spPr>
          <a:xfrm>
            <a:off x="7315200" y="4943659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h44282de0fdbe31a0_2_0"/>
          <p:cNvCxnSpPr/>
          <p:nvPr/>
        </p:nvCxnSpPr>
        <p:spPr>
          <a:xfrm>
            <a:off x="9049610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h44282de0fdbe31a0_2_0"/>
          <p:cNvCxnSpPr/>
          <p:nvPr/>
        </p:nvCxnSpPr>
        <p:spPr>
          <a:xfrm>
            <a:off x="7315200" y="5026250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h44282de0fdbe31a0_2_0"/>
          <p:cNvCxnSpPr/>
          <p:nvPr/>
        </p:nvCxnSpPr>
        <p:spPr>
          <a:xfrm>
            <a:off x="9132201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h44282de0fdbe31a0_2_0"/>
          <p:cNvCxnSpPr/>
          <p:nvPr/>
        </p:nvCxnSpPr>
        <p:spPr>
          <a:xfrm>
            <a:off x="7315200" y="5108841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h44282de0fdbe31a0_2_0"/>
          <p:cNvCxnSpPr/>
          <p:nvPr/>
        </p:nvCxnSpPr>
        <p:spPr>
          <a:xfrm>
            <a:off x="9214792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5" name="Google Shape;885;h44282de0fdbe31a0_2_0"/>
          <p:cNvCxnSpPr/>
          <p:nvPr/>
        </p:nvCxnSpPr>
        <p:spPr>
          <a:xfrm>
            <a:off x="7315200" y="5191432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6" name="Google Shape;886;h44282de0fdbe31a0_2_0"/>
          <p:cNvCxnSpPr/>
          <p:nvPr/>
        </p:nvCxnSpPr>
        <p:spPr>
          <a:xfrm>
            <a:off x="9297383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7" name="Google Shape;887;h44282de0fdbe31a0_2_0"/>
          <p:cNvCxnSpPr/>
          <p:nvPr/>
        </p:nvCxnSpPr>
        <p:spPr>
          <a:xfrm>
            <a:off x="7315200" y="5274023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8" name="Google Shape;888;h44282de0fdbe31a0_2_0"/>
          <p:cNvCxnSpPr/>
          <p:nvPr/>
        </p:nvCxnSpPr>
        <p:spPr>
          <a:xfrm>
            <a:off x="9379974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h44282de0fdbe31a0_2_0"/>
          <p:cNvCxnSpPr/>
          <p:nvPr/>
        </p:nvCxnSpPr>
        <p:spPr>
          <a:xfrm>
            <a:off x="7315200" y="5356614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h44282de0fdbe31a0_2_0"/>
          <p:cNvCxnSpPr/>
          <p:nvPr/>
        </p:nvCxnSpPr>
        <p:spPr>
          <a:xfrm>
            <a:off x="9462565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h44282de0fdbe31a0_2_0"/>
          <p:cNvCxnSpPr/>
          <p:nvPr/>
        </p:nvCxnSpPr>
        <p:spPr>
          <a:xfrm>
            <a:off x="7315200" y="5439205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h44282de0fdbe31a0_2_0"/>
          <p:cNvCxnSpPr/>
          <p:nvPr/>
        </p:nvCxnSpPr>
        <p:spPr>
          <a:xfrm>
            <a:off x="9545156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h44282de0fdbe31a0_2_0"/>
          <p:cNvCxnSpPr/>
          <p:nvPr/>
        </p:nvCxnSpPr>
        <p:spPr>
          <a:xfrm>
            <a:off x="7315200" y="5521796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h44282de0fdbe31a0_2_0"/>
          <p:cNvCxnSpPr/>
          <p:nvPr/>
        </p:nvCxnSpPr>
        <p:spPr>
          <a:xfrm>
            <a:off x="9627747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h44282de0fdbe31a0_2_0"/>
          <p:cNvCxnSpPr/>
          <p:nvPr/>
        </p:nvCxnSpPr>
        <p:spPr>
          <a:xfrm>
            <a:off x="7315200" y="5604387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h44282de0fdbe31a0_2_0"/>
          <p:cNvCxnSpPr/>
          <p:nvPr/>
        </p:nvCxnSpPr>
        <p:spPr>
          <a:xfrm>
            <a:off x="9710338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h44282de0fdbe31a0_2_0"/>
          <p:cNvCxnSpPr/>
          <p:nvPr/>
        </p:nvCxnSpPr>
        <p:spPr>
          <a:xfrm>
            <a:off x="7315200" y="5686978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8" name="Google Shape;898;h44282de0fdbe31a0_2_0"/>
          <p:cNvCxnSpPr/>
          <p:nvPr/>
        </p:nvCxnSpPr>
        <p:spPr>
          <a:xfrm>
            <a:off x="9792929" y="3291840"/>
            <a:ext cx="0" cy="256020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9" name="Google Shape;899;h44282de0fdbe31a0_2_0"/>
          <p:cNvCxnSpPr/>
          <p:nvPr/>
        </p:nvCxnSpPr>
        <p:spPr>
          <a:xfrm>
            <a:off x="7315200" y="5769569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h44282de0fdbe31a0_2_0"/>
          <p:cNvSpPr txBox="1"/>
          <p:nvPr/>
        </p:nvSpPr>
        <p:spPr>
          <a:xfrm>
            <a:off x="7315200" y="5897880"/>
            <a:ext cx="256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1000 px training patch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31 × 31 = 961 cells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h44282de0fdbe31a0_2_0"/>
          <p:cNvSpPr/>
          <p:nvPr/>
        </p:nvSpPr>
        <p:spPr>
          <a:xfrm>
            <a:off x="10287000" y="3749040"/>
            <a:ext cx="509400" cy="509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2" name="Google Shape;902;h44282de0fdbe31a0_2_0"/>
          <p:cNvCxnSpPr/>
          <p:nvPr/>
        </p:nvCxnSpPr>
        <p:spPr>
          <a:xfrm>
            <a:off x="10371917" y="3749040"/>
            <a:ext cx="0" cy="50940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3" name="Google Shape;903;h44282de0fdbe31a0_2_0"/>
          <p:cNvCxnSpPr/>
          <p:nvPr/>
        </p:nvCxnSpPr>
        <p:spPr>
          <a:xfrm>
            <a:off x="10287000" y="3833957"/>
            <a:ext cx="509400" cy="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4" name="Google Shape;904;h44282de0fdbe31a0_2_0"/>
          <p:cNvCxnSpPr/>
          <p:nvPr/>
        </p:nvCxnSpPr>
        <p:spPr>
          <a:xfrm>
            <a:off x="10456835" y="3749040"/>
            <a:ext cx="0" cy="50940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5" name="Google Shape;905;h44282de0fdbe31a0_2_0"/>
          <p:cNvCxnSpPr/>
          <p:nvPr/>
        </p:nvCxnSpPr>
        <p:spPr>
          <a:xfrm>
            <a:off x="10287000" y="3918875"/>
            <a:ext cx="509400" cy="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h44282de0fdbe31a0_2_0"/>
          <p:cNvCxnSpPr/>
          <p:nvPr/>
        </p:nvCxnSpPr>
        <p:spPr>
          <a:xfrm>
            <a:off x="10541752" y="3749040"/>
            <a:ext cx="0" cy="50940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h44282de0fdbe31a0_2_0"/>
          <p:cNvCxnSpPr/>
          <p:nvPr/>
        </p:nvCxnSpPr>
        <p:spPr>
          <a:xfrm>
            <a:off x="10287000" y="4003792"/>
            <a:ext cx="509400" cy="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h44282de0fdbe31a0_2_0"/>
          <p:cNvCxnSpPr/>
          <p:nvPr/>
        </p:nvCxnSpPr>
        <p:spPr>
          <a:xfrm>
            <a:off x="10626669" y="3749040"/>
            <a:ext cx="0" cy="50940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h44282de0fdbe31a0_2_0"/>
          <p:cNvCxnSpPr/>
          <p:nvPr/>
        </p:nvCxnSpPr>
        <p:spPr>
          <a:xfrm>
            <a:off x="10287000" y="4088709"/>
            <a:ext cx="509400" cy="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0" name="Google Shape;910;h44282de0fdbe31a0_2_0"/>
          <p:cNvCxnSpPr/>
          <p:nvPr/>
        </p:nvCxnSpPr>
        <p:spPr>
          <a:xfrm>
            <a:off x="10711586" y="3749040"/>
            <a:ext cx="0" cy="50940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1" name="Google Shape;911;h44282de0fdbe31a0_2_0"/>
          <p:cNvCxnSpPr/>
          <p:nvPr/>
        </p:nvCxnSpPr>
        <p:spPr>
          <a:xfrm>
            <a:off x="10287000" y="4173626"/>
            <a:ext cx="509400" cy="0"/>
          </a:xfrm>
          <a:prstGeom prst="straightConnector1">
            <a:avLst/>
          </a:prstGeom>
          <a:noFill/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h44282de0fdbe31a0_2_0"/>
          <p:cNvSpPr txBox="1"/>
          <p:nvPr/>
        </p:nvSpPr>
        <p:spPr>
          <a:xfrm>
            <a:off x="10012680" y="430426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Median patch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199 px = 36 cells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h44282de0fdbe31a0_2_0"/>
          <p:cNvSpPr/>
          <p:nvPr/>
        </p:nvSpPr>
        <p:spPr>
          <a:xfrm>
            <a:off x="10490545" y="5120640"/>
            <a:ext cx="102300" cy="102300"/>
          </a:xfrm>
          <a:prstGeom prst="rect">
            <a:avLst/>
          </a:prstGeom>
          <a:solidFill>
            <a:srgbClr val="9673A6"/>
          </a:solidFill>
          <a:ln cap="flat" cmpd="sng" w="9525">
            <a:solidFill>
              <a:srgbClr val="5B2C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h44282de0fdbe31a0_2_0"/>
          <p:cNvSpPr txBox="1"/>
          <p:nvPr/>
        </p:nvSpPr>
        <p:spPr>
          <a:xfrm>
            <a:off x="10012680" y="5257800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40 px patch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= 1 cell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h44282de0fdbe31a0_2_16"/>
          <p:cNvSpPr txBox="1"/>
          <p:nvPr/>
        </p:nvSpPr>
        <p:spPr>
          <a:xfrm>
            <a:off x="548640" y="32004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Evidence: How Common Are Small Patches?</a:t>
            </a:r>
            <a:endParaRPr b="1" i="0" sz="3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0" name="Google Shape;920;h44282de0fdbe31a0_2_16"/>
          <p:cNvSpPr/>
          <p:nvPr/>
        </p:nvSpPr>
        <p:spPr>
          <a:xfrm>
            <a:off x="548650" y="1015399"/>
            <a:ext cx="5760600" cy="5248200"/>
          </a:xfrm>
          <a:prstGeom prst="roundRect">
            <a:avLst>
              <a:gd fmla="val 1101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h44282de0fdbe31a0_2_16"/>
          <p:cNvSpPr txBox="1"/>
          <p:nvPr/>
        </p:nvSpPr>
        <p:spPr>
          <a:xfrm>
            <a:off x="731520" y="3776097"/>
            <a:ext cx="539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Case 5, top 8 attention patches (team slide 11). 6 of 8 look pixelated because they are tiny and the plot enlarges them for display. All 8 come from one melan slice.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22" name="Google Shape;922;h44282de0fdbe31a0_2_16" title="Screenshot 2026-10-22 at 8.10.29 PM.png"/>
          <p:cNvPicPr preferRelativeResize="0"/>
          <p:nvPr/>
        </p:nvPicPr>
        <p:blipFill rotWithShape="1">
          <a:blip r:embed="rId3">
            <a:alphaModFix/>
          </a:blip>
          <a:srcRect b="7236" l="0" r="0" t="7236"/>
          <a:stretch/>
        </p:blipFill>
        <p:spPr>
          <a:xfrm>
            <a:off x="685800" y="4572000"/>
            <a:ext cx="5486400" cy="16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h44282de0fdbe31a0_2_16"/>
          <p:cNvSpPr/>
          <p:nvPr/>
        </p:nvSpPr>
        <p:spPr>
          <a:xfrm>
            <a:off x="6492250" y="1015399"/>
            <a:ext cx="5148000" cy="3053400"/>
          </a:xfrm>
          <a:prstGeom prst="roundRect">
            <a:avLst>
              <a:gd fmla="val 1967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h44282de0fdbe31a0_2_16"/>
          <p:cNvSpPr/>
          <p:nvPr/>
        </p:nvSpPr>
        <p:spPr>
          <a:xfrm>
            <a:off x="6492240" y="4206240"/>
            <a:ext cx="1655100" cy="2057400"/>
          </a:xfrm>
          <a:prstGeom prst="roundRect">
            <a:avLst>
              <a:gd fmla="val 3315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h44282de0fdbe31a0_2_16"/>
          <p:cNvSpPr txBox="1"/>
          <p:nvPr/>
        </p:nvSpPr>
        <p:spPr>
          <a:xfrm>
            <a:off x="6601968" y="4297680"/>
            <a:ext cx="14355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23.3%</a:t>
            </a:r>
            <a:endParaRPr i="0" sz="2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of the 81,627 patches are under 128 px</a:t>
            </a:r>
            <a:endParaRPr i="0" sz="2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6" name="Google Shape;926;h44282de0fdbe31a0_2_16"/>
          <p:cNvSpPr/>
          <p:nvPr/>
        </p:nvSpPr>
        <p:spPr>
          <a:xfrm>
            <a:off x="8238744" y="4206240"/>
            <a:ext cx="1655100" cy="2057400"/>
          </a:xfrm>
          <a:prstGeom prst="roundRect">
            <a:avLst>
              <a:gd fmla="val 3315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h44282de0fdbe31a0_2_16"/>
          <p:cNvSpPr txBox="1"/>
          <p:nvPr/>
        </p:nvSpPr>
        <p:spPr>
          <a:xfrm>
            <a:off x="8348472" y="4297680"/>
            <a:ext cx="14355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36 vs 961</a:t>
            </a:r>
            <a:endParaRPr i="0" sz="2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cells: median patch vs a training patch</a:t>
            </a:r>
            <a:endParaRPr i="0" sz="2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8" name="Google Shape;928;h44282de0fdbe31a0_2_16"/>
          <p:cNvSpPr/>
          <p:nvPr/>
        </p:nvSpPr>
        <p:spPr>
          <a:xfrm>
            <a:off x="9985248" y="4206240"/>
            <a:ext cx="1655100" cy="2057400"/>
          </a:xfrm>
          <a:prstGeom prst="roundRect">
            <a:avLst>
              <a:gd fmla="val 3315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h44282de0fdbe31a0_2_16"/>
          <p:cNvSpPr txBox="1"/>
          <p:nvPr/>
        </p:nvSpPr>
        <p:spPr>
          <a:xfrm>
            <a:off x="10094976" y="4297680"/>
            <a:ext cx="14355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4.8%</a:t>
            </a:r>
            <a:endParaRPr i="0" sz="2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become a single 1 × 1 cell (about 3,900)</a:t>
            </a:r>
            <a:endParaRPr i="0" sz="2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30" name="Google Shape;930;h44282de0fdbe31a0_2_16" title="Screenshot 2026-10-22 at 8.09.4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300" y="1254675"/>
            <a:ext cx="5555425" cy="231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h44282de0fdbe31a0_2_16" title="Screenshot 2026-10-22 at 8.10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1975" y="1428100"/>
            <a:ext cx="5072834" cy="27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h44282de0fdbe31a0_2_80"/>
          <p:cNvSpPr txBox="1"/>
          <p:nvPr/>
        </p:nvSpPr>
        <p:spPr>
          <a:xfrm>
            <a:off x="548640" y="32004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Patch Size: Weakness, Impact, and Fix</a:t>
            </a:r>
            <a:endParaRPr b="1" i="0" sz="3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7" name="Google Shape;937;h44282de0fdbe31a0_2_80"/>
          <p:cNvSpPr/>
          <p:nvPr/>
        </p:nvSpPr>
        <p:spPr>
          <a:xfrm>
            <a:off x="548640" y="1280160"/>
            <a:ext cx="3520500" cy="4983600"/>
          </a:xfrm>
          <a:prstGeom prst="roundRect">
            <a:avLst>
              <a:gd fmla="val 1558" name="adj"/>
            </a:avLst>
          </a:prstGeom>
          <a:solidFill>
            <a:srgbClr val="E1D5E7"/>
          </a:solidFill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h44282de0fdbe31a0_2_80"/>
          <p:cNvSpPr txBox="1"/>
          <p:nvPr/>
        </p:nvSpPr>
        <p:spPr>
          <a:xfrm>
            <a:off x="777240" y="1463040"/>
            <a:ext cx="30633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01. The Weakness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Loose Size Filter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B2C6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32 px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B2C6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current MIN_PATCH_SIZE (line 32)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patch of 32 px or more goes into KimiaNet at its own size.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4.8% of patches (about 3,900) become a single 1 × 1 cell, and 23% are under 128 px.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h44282de0fdbe31a0_2_80"/>
          <p:cNvSpPr/>
          <p:nvPr/>
        </p:nvSpPr>
        <p:spPr>
          <a:xfrm>
            <a:off x="4325112" y="1280160"/>
            <a:ext cx="3520500" cy="4983600"/>
          </a:xfrm>
          <a:prstGeom prst="roundRect">
            <a:avLst>
              <a:gd fmla="val 1558" name="adj"/>
            </a:avLst>
          </a:prstGeom>
          <a:solidFill>
            <a:srgbClr val="E1D5E7"/>
          </a:solidFill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h44282de0fdbe31a0_2_80"/>
          <p:cNvSpPr txBox="1"/>
          <p:nvPr/>
        </p:nvSpPr>
        <p:spPr>
          <a:xfrm>
            <a:off x="4553712" y="1463040"/>
            <a:ext cx="30633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02. Why This Matters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Far Less to Summarize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B2C6F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36 vs 961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B2C6F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5B2C6F"/>
                </a:solidFill>
                <a:latin typeface="Manrope"/>
                <a:ea typeface="Manrope"/>
                <a:cs typeface="Manrope"/>
                <a:sym typeface="Manrope"/>
              </a:rPr>
              <a:t>cells: median patch vs KimiaNet training patch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Even a typical patch gives KimiaNet far less tissue than it was trained on. Single-cell patches mostly reflect edges and padding.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Attention still weighs them like any other patch, and lands on tiny patches in Case 5.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1" name="Google Shape;941;h44282de0fdbe31a0_2_80"/>
          <p:cNvSpPr/>
          <p:nvPr/>
        </p:nvSpPr>
        <p:spPr>
          <a:xfrm>
            <a:off x="8101584" y="1280160"/>
            <a:ext cx="3520500" cy="4983600"/>
          </a:xfrm>
          <a:prstGeom prst="roundRect">
            <a:avLst>
              <a:gd fmla="val 1558" name="adj"/>
            </a:avLst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h44282de0fdbe31a0_2_80"/>
          <p:cNvSpPr txBox="1"/>
          <p:nvPr/>
        </p:nvSpPr>
        <p:spPr>
          <a:xfrm>
            <a:off x="8330184" y="1463040"/>
            <a:ext cx="30633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Manrope"/>
                <a:ea typeface="Manrope"/>
                <a:cs typeface="Manrope"/>
                <a:sym typeface="Manrope"/>
              </a:rPr>
              <a:t>03. The Proposed Fix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Raise the Minimum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rgbClr val="1F4E79"/>
                </a:solidFill>
                <a:latin typeface="Manrope"/>
                <a:ea typeface="Manrope"/>
                <a:cs typeface="Manrope"/>
                <a:sym typeface="Manrope"/>
              </a:rPr>
              <a:t>128 px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1F4E79"/>
                </a:solidFill>
                <a:latin typeface="Manrope"/>
                <a:ea typeface="Manrope"/>
                <a:cs typeface="Manrope"/>
                <a:sym typeface="Manrope"/>
              </a:rPr>
              <a:t>at least a 4 × 4 grid inside KimiaNet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precompute_pooled_features.py, line 32: MIN_PATCH_SIZE = 128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Safeguard: if a slice has none ≥ 128 px, keep its 5 largest. Re-run the embeddings, then training.</a:t>
            </a:r>
            <a:endParaRPr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3" name="Google Shape;943;h44282de0fdbe31a0_2_80"/>
          <p:cNvSpPr txBox="1"/>
          <p:nvPr/>
        </p:nvSpPr>
        <p:spPr>
          <a:xfrm>
            <a:off x="10113264" y="4526280"/>
            <a:ext cx="1371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Manrope"/>
                <a:ea typeface="Manrope"/>
                <a:cs typeface="Manrope"/>
                <a:sym typeface="Manrope"/>
              </a:rPr>
              <a:t>76.7% kept</a:t>
            </a:r>
            <a:endParaRPr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All 99 cases keep patches</a:t>
            </a:r>
            <a:endParaRPr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4" name="Google Shape;944;h44282de0fdbe31a0_2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3917872"/>
            <a:ext cx="3645375" cy="205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h44282de0fdbe31a0_2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5100" y="4297750"/>
            <a:ext cx="3352076" cy="18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h44282de0fdbe31a0_2_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6675" y="3804639"/>
            <a:ext cx="2313763" cy="2425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h44282de0fdbe31a0_3_168"/>
          <p:cNvSpPr txBox="1"/>
          <p:nvPr/>
        </p:nvSpPr>
        <p:spPr>
          <a:xfrm>
            <a:off x="548640" y="32004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How to Test the Fix</a:t>
            </a:r>
            <a:endParaRPr b="1" i="0" sz="3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2" name="Google Shape;952;h44282de0fdbe31a0_3_168"/>
          <p:cNvSpPr/>
          <p:nvPr/>
        </p:nvSpPr>
        <p:spPr>
          <a:xfrm>
            <a:off x="548640" y="1280160"/>
            <a:ext cx="5166300" cy="1463100"/>
          </a:xfrm>
          <a:prstGeom prst="roundRect">
            <a:avLst>
              <a:gd fmla="val 3750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h44282de0fdbe31a0_3_168"/>
          <p:cNvSpPr txBox="1"/>
          <p:nvPr/>
        </p:nvSpPr>
        <p:spPr>
          <a:xfrm>
            <a:off x="777240" y="1371600"/>
            <a:ext cx="4755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code, seed 390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patch side 32 px. Already run (job 4832248).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h44282de0fdbe31a0_3_168"/>
          <p:cNvCxnSpPr/>
          <p:nvPr/>
        </p:nvCxnSpPr>
        <p:spPr>
          <a:xfrm>
            <a:off x="5806440" y="2011680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4040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5" name="Google Shape;955;h44282de0fdbe31a0_3_168"/>
          <p:cNvSpPr txBox="1"/>
          <p:nvPr/>
        </p:nvSpPr>
        <p:spPr>
          <a:xfrm>
            <a:off x="5623560" y="210312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change one setting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h44282de0fdbe31a0_3_168"/>
          <p:cNvSpPr/>
          <p:nvPr/>
        </p:nvSpPr>
        <p:spPr>
          <a:xfrm>
            <a:off x="6473952" y="1280160"/>
            <a:ext cx="5166300" cy="1463100"/>
          </a:xfrm>
          <a:prstGeom prst="roundRect">
            <a:avLst>
              <a:gd fmla="val 3750" name="adj"/>
            </a:avLst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h44282de0fdbe31a0_3_168"/>
          <p:cNvSpPr txBox="1"/>
          <p:nvPr/>
        </p:nvSpPr>
        <p:spPr>
          <a:xfrm>
            <a:off x="6702552" y="1371600"/>
            <a:ext cx="4755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With the fix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seed, same split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patch side 128 px. Only one setting changes.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h44282de0fdbe31a0_3_168"/>
          <p:cNvSpPr/>
          <p:nvPr/>
        </p:nvSpPr>
        <p:spPr>
          <a:xfrm>
            <a:off x="548640" y="2926080"/>
            <a:ext cx="3566100" cy="1234500"/>
          </a:xfrm>
          <a:prstGeom prst="roundRect">
            <a:avLst>
              <a:gd fmla="val 4444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h44282de0fdbe31a0_3_168"/>
          <p:cNvSpPr/>
          <p:nvPr/>
        </p:nvSpPr>
        <p:spPr>
          <a:xfrm>
            <a:off x="731520" y="3310128"/>
            <a:ext cx="457200" cy="4572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h44282de0fdbe31a0_3_168"/>
          <p:cNvSpPr txBox="1"/>
          <p:nvPr/>
        </p:nvSpPr>
        <p:spPr>
          <a:xfrm>
            <a:off x="731520" y="33101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h44282de0fdbe31a0_3_168"/>
          <p:cNvSpPr txBox="1"/>
          <p:nvPr/>
        </p:nvSpPr>
        <p:spPr>
          <a:xfrm>
            <a:off x="1325880" y="3017520"/>
            <a:ext cx="2651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and recall per class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Benign recall must not drop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h44282de0fdbe31a0_3_168"/>
          <p:cNvSpPr/>
          <p:nvPr/>
        </p:nvSpPr>
        <p:spPr>
          <a:xfrm>
            <a:off x="4306824" y="2926080"/>
            <a:ext cx="3566100" cy="1234500"/>
          </a:xfrm>
          <a:prstGeom prst="roundRect">
            <a:avLst>
              <a:gd fmla="val 4444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h44282de0fdbe31a0_3_168"/>
          <p:cNvSpPr/>
          <p:nvPr/>
        </p:nvSpPr>
        <p:spPr>
          <a:xfrm>
            <a:off x="4489704" y="3310128"/>
            <a:ext cx="457200" cy="4572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h44282de0fdbe31a0_3_168"/>
          <p:cNvSpPr txBox="1"/>
          <p:nvPr/>
        </p:nvSpPr>
        <p:spPr>
          <a:xfrm>
            <a:off x="4489704" y="33101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h44282de0fdbe31a0_3_168"/>
          <p:cNvSpPr txBox="1"/>
          <p:nvPr/>
        </p:nvSpPr>
        <p:spPr>
          <a:xfrm>
            <a:off x="5084064" y="3017520"/>
            <a:ext cx="2651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P(high-grade) on misclassified cases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move toward the right answer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h44282de0fdbe31a0_3_168"/>
          <p:cNvSpPr/>
          <p:nvPr/>
        </p:nvSpPr>
        <p:spPr>
          <a:xfrm>
            <a:off x="8065008" y="2926080"/>
            <a:ext cx="3566100" cy="1234500"/>
          </a:xfrm>
          <a:prstGeom prst="roundRect">
            <a:avLst>
              <a:gd fmla="val 4444" name="adj"/>
            </a:avLst>
          </a:prstGeom>
          <a:solidFill>
            <a:srgbClr val="F3F9FF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h44282de0fdbe31a0_3_168"/>
          <p:cNvSpPr/>
          <p:nvPr/>
        </p:nvSpPr>
        <p:spPr>
          <a:xfrm>
            <a:off x="8247888" y="3310128"/>
            <a:ext cx="457200" cy="4572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C8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h44282de0fdbe31a0_3_168"/>
          <p:cNvSpPr txBox="1"/>
          <p:nvPr/>
        </p:nvSpPr>
        <p:spPr>
          <a:xfrm>
            <a:off x="8247888" y="33101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h44282de0fdbe31a0_3_168"/>
          <p:cNvSpPr txBox="1"/>
          <p:nvPr/>
        </p:nvSpPr>
        <p:spPr>
          <a:xfrm>
            <a:off x="8842248" y="3017520"/>
            <a:ext cx="2651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8 attention patches per case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be larger patches with visible cells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h44282de0fdbe31a0_3_168"/>
          <p:cNvSpPr/>
          <p:nvPr/>
        </p:nvSpPr>
        <p:spPr>
          <a:xfrm>
            <a:off x="548640" y="4343400"/>
            <a:ext cx="11091600" cy="1920300"/>
          </a:xfrm>
          <a:prstGeom prst="roundRect">
            <a:avLst>
              <a:gd fmla="val 2857" name="adj"/>
            </a:avLst>
          </a:prstGeom>
          <a:solidFill>
            <a:srgbClr val="E1D5E7"/>
          </a:solidFill>
          <a:ln cap="flat" cmpd="sng" w="9525">
            <a:solidFill>
              <a:srgbClr val="967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h44282de0fdbe31a0_3_168"/>
          <p:cNvSpPr txBox="1"/>
          <p:nvPr/>
        </p:nvSpPr>
        <p:spPr>
          <a:xfrm>
            <a:off x="777240" y="4480560"/>
            <a:ext cx="60351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If benign recall drops: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patches may carry real signal (thin epithelium near the base). Fallback: a softer cutoff of 64 px, which removes only 5.1% of patches (the single-cell ones). Cost either way: one embedding re-run and one training run.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2" name="Google Shape;972;h44282de0fdbe31a0_3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350" y="4343400"/>
            <a:ext cx="4947927" cy="19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h44282de0fdbe31a0_2_83"/>
          <p:cNvSpPr txBox="1"/>
          <p:nvPr/>
        </p:nvSpPr>
        <p:spPr>
          <a:xfrm>
            <a:off x="4596000" y="309045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Manrope"/>
                <a:ea typeface="Manrope"/>
                <a:cs typeface="Manrope"/>
                <a:sym typeface="Manrope"/>
              </a:rPr>
              <a:t>Thank You!</a:t>
            </a:r>
            <a:endParaRPr b="1" sz="32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2026-10-14T23:20:26Z</dcterms:created>
  <dc:creator>Haowen Tan</dc:creator>
</cp:coreProperties>
</file>